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8882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EF3DAC1-33EE-FF2D-21C9-009A934DB8CB}" v="325" dt="2026-04-08T20:21:29.983"/>
    <p1510:client id="{648ACAEE-285A-2EF6-6C5D-FCF3BD456ECB}" v="4" dt="2026-04-08T15:31:50.770"/>
    <p1510:client id="{E8E87D15-8966-A4AC-2C43-D4A0CDA98967}" v="111" dt="2026-04-08T17:49:26.89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3914958-1639-4688-B65B-6344F7D9C8FD}" type="datetimeFigureOut">
              <a:t>4/8/2026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27B42B2-41ED-46BB-BF37-A747FBCA1DCC}" type="slidenum">
              <a:t>‹#›</a:t>
            </a:fld>
            <a:endParaRPr lang="en-US"/>
          </a:p>
        </p:txBody>
      </p:sp>
    </p:spTree>
    <p:extLst>
      <p:ext uri="{BB962C8B-B14F-4D97-AF65-F5344CB8AC3E}">
        <p14:creationId xmlns:p14="http://schemas.microsoft.com/office/powerpoint/2010/main" val="20879828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30 sec. State the system name, module, your solo-team status upfront — pre-empts "where's your team?" questions.</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60 sec. All figures from IFR / proposal — cite if asked. The word "reason" is the IRS hook — use it deliberately.</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60 sec. All figures are from the proposal's cited sources — defensible if challenged. "Fully local" differentiates from GPT-4-dependent solutions.</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2 min. This is the most important slide for Q&amp;A. Walk the table row by row. Pause on "hallucinated actions" — panel will likely probe this.</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60 sec. Anticipate "why not just use FastDownward?" — answer is already on this slide.</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30 sec. Read the table. Emphasise ① and ② are both in Agent 2 — this is the differentiator.</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90 sec. Walk the arrows. Emphasise the replanning loop — this is what makes it an *intelligent* system, not just a script.</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45 sec. One example is enough. Mention VAL validator — shows rigour.</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90 sec. Show the code snippet — it demonstrates direct implementation of A*, not a library wrapper. Be ready to explain h+ inadmissibility (see Q&amp;A slide).</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60 sec. Keep this fast — these are supporting agents. The panel cares most about Agent 2.</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45 sec. "Zero licensing cost" is a selling point — say it once clearly. Hardware spec reassures panel that this can actually run.</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60 sec. The replan loop on failure is what makes this an IRS system — emphasise it.</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45 sec. Point to "We are here." Proposal is submitted and clean. Implementation starts this week.</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45 sec. Showing you've thought about failure modes signals engineering maturity. The VRAM budget is a concrete number — say it.</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30 sec. Say the framing line out loud — examiners respect intellectual honesty. Then list the four deliverables. End on the capstone diagram to show this feeds a larger system.</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4/8/2026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4/8/2026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4/8/2026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4/8/2026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4/8/2026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4/8/2026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4/8/2026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548640" y="1371600"/>
            <a:ext cx="10972800" cy="923330"/>
          </a:xfrm>
          <a:prstGeom prst="rect">
            <a:avLst/>
          </a:prstGeom>
          <a:noFill/>
        </p:spPr>
        <p:txBody>
          <a:bodyPr wrap="square">
            <a:spAutoFit/>
          </a:bodyPr>
          <a:lstStyle/>
          <a:p>
            <a:pPr algn="l"/>
            <a:r>
              <a:rPr sz="5400" b="1" i="0">
                <a:solidFill>
                  <a:srgbClr val="000000"/>
                </a:solidFill>
                <a:latin typeface="Calibri"/>
              </a:rPr>
              <a:t>The Planner</a:t>
            </a:r>
          </a:p>
        </p:txBody>
      </p:sp>
      <p:sp>
        <p:nvSpPr>
          <p:cNvPr id="5" name="TextBox 4"/>
          <p:cNvSpPr txBox="1"/>
          <p:nvPr/>
        </p:nvSpPr>
        <p:spPr>
          <a:xfrm>
            <a:off x="548640" y="2651760"/>
            <a:ext cx="10972800" cy="461665"/>
          </a:xfrm>
          <a:prstGeom prst="rect">
            <a:avLst/>
          </a:prstGeom>
          <a:noFill/>
        </p:spPr>
        <p:txBody>
          <a:bodyPr wrap="square">
            <a:spAutoFit/>
          </a:bodyPr>
          <a:lstStyle/>
          <a:p>
            <a:pPr algn="l"/>
            <a:r>
              <a:rPr sz="2400" b="0" i="1">
                <a:solidFill>
                  <a:srgbClr val="000000"/>
                </a:solidFill>
                <a:latin typeface="Calibri"/>
              </a:rPr>
              <a:t>Intelligent Symbolic Task Planning for Robot Manipulation</a:t>
            </a:r>
          </a:p>
        </p:txBody>
      </p:sp>
      <p:sp>
        <p:nvSpPr>
          <p:cNvPr id="6" name="TextBox 5"/>
          <p:cNvSpPr txBox="1"/>
          <p:nvPr/>
        </p:nvSpPr>
        <p:spPr>
          <a:xfrm>
            <a:off x="548640" y="3657600"/>
            <a:ext cx="8229600" cy="323165"/>
          </a:xfrm>
          <a:prstGeom prst="rect">
            <a:avLst/>
          </a:prstGeom>
          <a:noFill/>
        </p:spPr>
        <p:txBody>
          <a:bodyPr wrap="square" lIns="91440" tIns="45720" rIns="91440" bIns="45720" anchor="t">
            <a:spAutoFit/>
          </a:bodyPr>
          <a:lstStyle/>
          <a:p>
            <a:r>
              <a:rPr sz="1500" b="0" i="0">
                <a:solidFill>
                  <a:srgbClr val="000000"/>
                </a:solidFill>
                <a:latin typeface="Calibri"/>
              </a:rPr>
              <a:t>Group 11 | AIS08 | </a:t>
            </a:r>
            <a:r>
              <a:rPr lang="en-US" sz="1500">
                <a:solidFill>
                  <a:srgbClr val="000000"/>
                </a:solidFill>
                <a:ea typeface="+mn-lt"/>
                <a:cs typeface="+mn-lt"/>
              </a:rPr>
              <a:t>NUS-ISS Intelligent Reasoning Systems </a:t>
            </a:r>
            <a:r>
              <a:rPr lang="en-US" sz="1500" i="0">
                <a:solidFill>
                  <a:srgbClr val="000000"/>
                </a:solidFill>
                <a:ea typeface="+mn-lt"/>
                <a:cs typeface="+mn-lt"/>
              </a:rPr>
              <a:t>Practice Module</a:t>
            </a:r>
            <a:r>
              <a:rPr lang="en-US" sz="1500">
                <a:solidFill>
                  <a:srgbClr val="000000"/>
                </a:solidFill>
                <a:ea typeface="+mn-lt"/>
                <a:cs typeface="+mn-lt"/>
              </a:rPr>
              <a:t> — Project Proposal</a:t>
            </a:r>
            <a:endParaRPr lang="en-US" sz="1500" i="0">
              <a:solidFill>
                <a:srgbClr val="000000"/>
              </a:solidFill>
              <a:latin typeface="Calibri"/>
              <a:ea typeface="Calibri"/>
              <a:cs typeface="Calibri"/>
            </a:endParaRPr>
          </a:p>
        </p:txBody>
      </p:sp>
      <p:sp>
        <p:nvSpPr>
          <p:cNvPr id="7" name="TextBox 6"/>
          <p:cNvSpPr txBox="1"/>
          <p:nvPr/>
        </p:nvSpPr>
        <p:spPr>
          <a:xfrm>
            <a:off x="548640" y="4069080"/>
            <a:ext cx="8229600" cy="323165"/>
          </a:xfrm>
          <a:prstGeom prst="rect">
            <a:avLst/>
          </a:prstGeom>
          <a:noFill/>
        </p:spPr>
        <p:txBody>
          <a:bodyPr wrap="square">
            <a:spAutoFit/>
          </a:bodyPr>
          <a:lstStyle/>
          <a:p>
            <a:pPr algn="l"/>
            <a:r>
              <a:rPr sz="1500" b="0" i="0">
                <a:solidFill>
                  <a:srgbClr val="000000"/>
                </a:solidFill>
                <a:latin typeface="Calibri"/>
              </a:rPr>
              <a:t>Chan Wai Jye — Team Leader (Solo)</a:t>
            </a:r>
          </a:p>
        </p:txBody>
      </p:sp>
      <p:sp>
        <p:nvSpPr>
          <p:cNvPr id="8" name="TextBox 7"/>
          <p:cNvSpPr txBox="1"/>
          <p:nvPr/>
        </p:nvSpPr>
        <p:spPr>
          <a:xfrm>
            <a:off x="548640" y="4480560"/>
            <a:ext cx="8229600" cy="323165"/>
          </a:xfrm>
          <a:prstGeom prst="rect">
            <a:avLst/>
          </a:prstGeom>
          <a:noFill/>
        </p:spPr>
        <p:txBody>
          <a:bodyPr wrap="square" lIns="91440" tIns="45720" rIns="91440" bIns="45720" anchor="t">
            <a:spAutoFit/>
          </a:bodyPr>
          <a:lstStyle/>
          <a:p>
            <a:pPr algn="l"/>
            <a:r>
              <a:rPr sz="1500" b="0" i="0">
                <a:solidFill>
                  <a:srgbClr val="000000"/>
                </a:solidFill>
                <a:latin typeface="Calibri"/>
              </a:rPr>
              <a:t>GitHub: </a:t>
            </a:r>
            <a:r>
              <a:rPr lang="en-US" sz="1500" dirty="0">
                <a:solidFill>
                  <a:srgbClr val="000000"/>
                </a:solidFill>
                <a:ea typeface="+mn-lt"/>
                <a:cs typeface="+mn-lt"/>
              </a:rPr>
              <a:t>https://github.com/chanwaijye/</a:t>
            </a:r>
            <a:r>
              <a:rPr lang="en-US" sz="1500" b="0" i="0" dirty="0">
                <a:solidFill>
                  <a:srgbClr val="000000"/>
                </a:solidFill>
                <a:ea typeface="+mn-lt"/>
                <a:cs typeface="+mn-lt"/>
              </a:rPr>
              <a:t>IRS-PM-2026-03-29-AIS08-GRP-11-ThePlanner</a:t>
            </a:r>
          </a:p>
        </p:txBody>
      </p:sp>
      <p:sp>
        <p:nvSpPr>
          <p:cNvPr id="9" name="TextBox 8"/>
          <p:cNvSpPr txBox="1"/>
          <p:nvPr/>
        </p:nvSpPr>
        <p:spPr>
          <a:xfrm>
            <a:off x="548640" y="4892040"/>
            <a:ext cx="8229600" cy="323165"/>
          </a:xfrm>
          <a:prstGeom prst="rect">
            <a:avLst/>
          </a:prstGeom>
          <a:noFill/>
        </p:spPr>
        <p:txBody>
          <a:bodyPr wrap="square">
            <a:spAutoFit/>
          </a:bodyPr>
          <a:lstStyle/>
          <a:p>
            <a:pPr algn="l"/>
            <a:r>
              <a:rPr sz="1500" b="0" i="0">
                <a:solidFill>
                  <a:srgbClr val="000000"/>
                </a:solidFill>
                <a:latin typeface="Calibri"/>
              </a:rPr>
              <a:t>Date: 8–9 April 2026</a:t>
            </a:r>
          </a:p>
        </p:txBody>
      </p:sp>
      <p:sp>
        <p:nvSpPr>
          <p:cNvPr id="10" name="Rectangle 9"/>
          <p:cNvSpPr/>
          <p:nvPr/>
        </p:nvSpPr>
        <p:spPr>
          <a:xfrm>
            <a:off x="0" y="6693408"/>
            <a:ext cx="12188952" cy="164592"/>
          </a:xfrm>
          <a:prstGeom prst="rect">
            <a:avLst/>
          </a:prstGeom>
          <a:solidFill>
            <a:srgbClr val="1B27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rgbClr val="00000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0"/>
            <a:ext cx="12188952" cy="1051560"/>
          </a:xfrm>
          <a:prstGeom prst="rect">
            <a:avLst/>
          </a:prstGeom>
          <a:solidFill>
            <a:srgbClr val="1B27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1000760"/>
            <a:ext cx="12188952" cy="50800"/>
          </a:xfrm>
          <a:prstGeom prst="rect">
            <a:avLst/>
          </a:prstGeom>
          <a:solidFill>
            <a:srgbClr val="008B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65760" y="73152"/>
            <a:ext cx="11430000" cy="594360"/>
          </a:xfrm>
          <a:prstGeom prst="rect">
            <a:avLst/>
          </a:prstGeom>
          <a:noFill/>
        </p:spPr>
        <p:txBody>
          <a:bodyPr wrap="square">
            <a:spAutoFit/>
          </a:bodyPr>
          <a:lstStyle/>
          <a:p>
            <a:pPr algn="l"/>
            <a:r>
              <a:rPr sz="3000" b="1" i="0">
                <a:solidFill>
                  <a:srgbClr val="FFFFFF"/>
                </a:solidFill>
                <a:latin typeface="Calibri"/>
              </a:rPr>
              <a:t>Problem Statement</a:t>
            </a:r>
          </a:p>
        </p:txBody>
      </p:sp>
      <p:sp>
        <p:nvSpPr>
          <p:cNvPr id="6" name="TextBox 5"/>
          <p:cNvSpPr txBox="1"/>
          <p:nvPr/>
        </p:nvSpPr>
        <p:spPr>
          <a:xfrm>
            <a:off x="365760" y="658368"/>
            <a:ext cx="11430000" cy="323165"/>
          </a:xfrm>
          <a:prstGeom prst="rect">
            <a:avLst/>
          </a:prstGeom>
          <a:noFill/>
        </p:spPr>
        <p:txBody>
          <a:bodyPr wrap="square" lIns="91440" tIns="45720" rIns="91440" bIns="45720" anchor="t">
            <a:spAutoFit/>
          </a:bodyPr>
          <a:lstStyle/>
          <a:p>
            <a:pPr algn="l"/>
            <a:r>
              <a:rPr sz="1500" b="0" i="1">
                <a:solidFill>
                  <a:schemeClr val="bg1"/>
                </a:solidFill>
                <a:latin typeface="Calibri"/>
              </a:rPr>
              <a:t>The Problem: Manual Robot Reprogramming is Costly</a:t>
            </a:r>
            <a:endParaRPr lang="en-US" sz="1500" b="0" i="1">
              <a:solidFill>
                <a:schemeClr val="bg1"/>
              </a:solidFill>
              <a:latin typeface="Calibri"/>
              <a:ea typeface="Calibri"/>
              <a:cs typeface="Calibri"/>
            </a:endParaRPr>
          </a:p>
        </p:txBody>
      </p:sp>
      <p:sp>
        <p:nvSpPr>
          <p:cNvPr id="7" name="Rectangle 6"/>
          <p:cNvSpPr/>
          <p:nvPr/>
        </p:nvSpPr>
        <p:spPr>
          <a:xfrm>
            <a:off x="0" y="6693408"/>
            <a:ext cx="12188952" cy="164592"/>
          </a:xfrm>
          <a:prstGeom prst="rect">
            <a:avLst/>
          </a:prstGeom>
          <a:solidFill>
            <a:srgbClr val="1B27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65760" y="1188720"/>
            <a:ext cx="11430000" cy="330200"/>
          </a:xfrm>
          <a:prstGeom prst="rect">
            <a:avLst/>
          </a:prstGeom>
          <a:noFill/>
        </p:spPr>
        <p:txBody>
          <a:bodyPr wrap="square">
            <a:spAutoFit/>
          </a:bodyPr>
          <a:lstStyle/>
          <a:p>
            <a:pPr algn="l"/>
            <a:r>
              <a:rPr sz="1500" b="1" i="0">
                <a:solidFill>
                  <a:srgbClr val="1B275E"/>
                </a:solidFill>
                <a:latin typeface="Calibri"/>
              </a:rPr>
              <a:t>Industrial scenario:</a:t>
            </a:r>
          </a:p>
        </p:txBody>
      </p:sp>
      <p:sp>
        <p:nvSpPr>
          <p:cNvPr id="9" name="TextBox 8"/>
          <p:cNvSpPr txBox="1"/>
          <p:nvPr/>
        </p:nvSpPr>
        <p:spPr>
          <a:xfrm>
            <a:off x="365760" y="1544320"/>
            <a:ext cx="11430000" cy="1257300"/>
          </a:xfrm>
          <a:prstGeom prst="rect">
            <a:avLst/>
          </a:prstGeom>
          <a:noFill/>
        </p:spPr>
        <p:txBody>
          <a:bodyPr wrap="square">
            <a:spAutoFit/>
          </a:bodyPr>
          <a:lstStyle/>
          <a:p>
            <a:r>
              <a:rPr sz="1500">
                <a:solidFill>
                  <a:srgbClr val="444455"/>
                </a:solidFill>
                <a:latin typeface="Calibri"/>
              </a:rPr>
              <a:t>• Warehouse/hospital logistics robots must be reprogrammed for every new task variant</a:t>
            </a:r>
          </a:p>
          <a:p>
            <a:r>
              <a:rPr sz="1500">
                <a:solidFill>
                  <a:srgbClr val="444455"/>
                </a:solidFill>
                <a:latin typeface="Calibri"/>
              </a:rPr>
              <a:t>• A single robot work cell requires 3–6 weeks of programming time by a specialist engineer at $80k–$120k/year</a:t>
            </a:r>
          </a:p>
          <a:p>
            <a:r>
              <a:rPr sz="1500">
                <a:solidFill>
                  <a:srgbClr val="444455"/>
                </a:solidFill>
                <a:latin typeface="Calibri"/>
              </a:rPr>
              <a:t>• When task specs change — new products, new layouts — the cycle repeats</a:t>
            </a:r>
          </a:p>
          <a:p>
            <a:r>
              <a:rPr sz="1500">
                <a:solidFill>
                  <a:srgbClr val="444455"/>
                </a:solidFill>
                <a:latin typeface="Calibri"/>
              </a:rPr>
              <a:t>• Global industrial robot installations exceeded 500,000 units in 2023 (IFR World Robotics Report)</a:t>
            </a:r>
          </a:p>
        </p:txBody>
      </p:sp>
      <p:sp>
        <p:nvSpPr>
          <p:cNvPr id="10" name="TextBox 9"/>
          <p:cNvSpPr txBox="1"/>
          <p:nvPr/>
        </p:nvSpPr>
        <p:spPr>
          <a:xfrm>
            <a:off x="365760" y="2852420"/>
            <a:ext cx="11430000" cy="330200"/>
          </a:xfrm>
          <a:prstGeom prst="rect">
            <a:avLst/>
          </a:prstGeom>
          <a:noFill/>
        </p:spPr>
        <p:txBody>
          <a:bodyPr wrap="square">
            <a:spAutoFit/>
          </a:bodyPr>
          <a:lstStyle/>
          <a:p>
            <a:pPr algn="l"/>
            <a:r>
              <a:rPr sz="1500" b="1" i="0">
                <a:solidFill>
                  <a:srgbClr val="1B275E"/>
                </a:solidFill>
                <a:latin typeface="Calibri"/>
              </a:rPr>
              <a:t>The gap:</a:t>
            </a:r>
          </a:p>
        </p:txBody>
      </p:sp>
      <p:sp>
        <p:nvSpPr>
          <p:cNvPr id="11" name="Rectangle 10"/>
          <p:cNvSpPr/>
          <p:nvPr/>
        </p:nvSpPr>
        <p:spPr>
          <a:xfrm>
            <a:off x="365760" y="3208020"/>
            <a:ext cx="11430000" cy="508000"/>
          </a:xfrm>
          <a:prstGeom prst="rect">
            <a:avLst/>
          </a:prstGeom>
          <a:solidFill>
            <a:srgbClr val="1B27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67360" y="3246120"/>
            <a:ext cx="11226800" cy="431800"/>
          </a:xfrm>
          <a:prstGeom prst="rect">
            <a:avLst/>
          </a:prstGeom>
          <a:noFill/>
        </p:spPr>
        <p:txBody>
          <a:bodyPr wrap="square">
            <a:spAutoFit/>
          </a:bodyPr>
          <a:lstStyle/>
          <a:p>
            <a:pPr algn="l"/>
            <a:r>
              <a:rPr sz="1300" b="0" i="1">
                <a:solidFill>
                  <a:srgbClr val="FFB300"/>
                </a:solidFill>
                <a:latin typeface="Calibri"/>
              </a:rPr>
              <a:t>Robots today execute instructions. They cannot reason about goals.</a:t>
            </a:r>
          </a:p>
        </p:txBody>
      </p:sp>
      <p:sp>
        <p:nvSpPr>
          <p:cNvPr id="13" name="TextBox 12"/>
          <p:cNvSpPr txBox="1"/>
          <p:nvPr/>
        </p:nvSpPr>
        <p:spPr>
          <a:xfrm>
            <a:off x="365760" y="3766820"/>
            <a:ext cx="11430000" cy="330200"/>
          </a:xfrm>
          <a:prstGeom prst="rect">
            <a:avLst/>
          </a:prstGeom>
          <a:noFill/>
        </p:spPr>
        <p:txBody>
          <a:bodyPr wrap="square">
            <a:spAutoFit/>
          </a:bodyPr>
          <a:lstStyle/>
          <a:p>
            <a:pPr algn="l"/>
            <a:r>
              <a:rPr sz="1500" b="1" i="0">
                <a:solidFill>
                  <a:srgbClr val="1B275E"/>
                </a:solidFill>
                <a:latin typeface="Calibri"/>
              </a:rPr>
              <a:t>Target: A system where an operator says:</a:t>
            </a:r>
          </a:p>
        </p:txBody>
      </p:sp>
      <p:sp>
        <p:nvSpPr>
          <p:cNvPr id="14" name="Rectangle 13"/>
          <p:cNvSpPr/>
          <p:nvPr/>
        </p:nvSpPr>
        <p:spPr>
          <a:xfrm>
            <a:off x="365760" y="4122420"/>
            <a:ext cx="11430000" cy="508000"/>
          </a:xfrm>
          <a:prstGeom prst="rect">
            <a:avLst/>
          </a:prstGeom>
          <a:solidFill>
            <a:srgbClr val="1B27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67360" y="4160520"/>
            <a:ext cx="11226800" cy="431800"/>
          </a:xfrm>
          <a:prstGeom prst="rect">
            <a:avLst/>
          </a:prstGeom>
          <a:noFill/>
        </p:spPr>
        <p:txBody>
          <a:bodyPr wrap="square">
            <a:spAutoFit/>
          </a:bodyPr>
          <a:lstStyle/>
          <a:p>
            <a:pPr algn="l"/>
            <a:r>
              <a:rPr sz="1300" b="0" i="1">
                <a:solidFill>
                  <a:srgbClr val="FFB300"/>
                </a:solidFill>
                <a:latin typeface="Calibri"/>
              </a:rPr>
              <a:t>"Stack the red cube on the blue cylinder"</a:t>
            </a:r>
          </a:p>
        </p:txBody>
      </p:sp>
      <p:sp>
        <p:nvSpPr>
          <p:cNvPr id="16" name="Rectangle 15"/>
          <p:cNvSpPr/>
          <p:nvPr/>
        </p:nvSpPr>
        <p:spPr>
          <a:xfrm>
            <a:off x="365760" y="4681220"/>
            <a:ext cx="11430000" cy="508000"/>
          </a:xfrm>
          <a:prstGeom prst="rect">
            <a:avLst/>
          </a:prstGeom>
          <a:solidFill>
            <a:srgbClr val="1B27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67360" y="4719320"/>
            <a:ext cx="11226800" cy="431800"/>
          </a:xfrm>
          <a:prstGeom prst="rect">
            <a:avLst/>
          </a:prstGeom>
          <a:noFill/>
        </p:spPr>
        <p:txBody>
          <a:bodyPr wrap="square">
            <a:spAutoFit/>
          </a:bodyPr>
          <a:lstStyle/>
          <a:p>
            <a:pPr algn="l"/>
            <a:r>
              <a:rPr sz="1300" b="0" i="1">
                <a:solidFill>
                  <a:srgbClr val="FFB300"/>
                </a:solidFill>
                <a:latin typeface="Calibri"/>
              </a:rPr>
              <a:t>→ Robot plans autonomously, replans on failure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0"/>
            <a:ext cx="12188952" cy="1051560"/>
          </a:xfrm>
          <a:prstGeom prst="rect">
            <a:avLst/>
          </a:prstGeom>
          <a:solidFill>
            <a:srgbClr val="1B27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1000760"/>
            <a:ext cx="12188952" cy="50800"/>
          </a:xfrm>
          <a:prstGeom prst="rect">
            <a:avLst/>
          </a:prstGeom>
          <a:solidFill>
            <a:srgbClr val="008B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65760" y="73152"/>
            <a:ext cx="11430000" cy="594360"/>
          </a:xfrm>
          <a:prstGeom prst="rect">
            <a:avLst/>
          </a:prstGeom>
          <a:noFill/>
        </p:spPr>
        <p:txBody>
          <a:bodyPr wrap="square">
            <a:spAutoFit/>
          </a:bodyPr>
          <a:lstStyle/>
          <a:p>
            <a:pPr algn="l"/>
            <a:r>
              <a:rPr sz="3000" b="1" i="0">
                <a:solidFill>
                  <a:srgbClr val="FFFFFF"/>
                </a:solidFill>
                <a:latin typeface="Calibri"/>
              </a:rPr>
              <a:t>Market Context</a:t>
            </a:r>
          </a:p>
        </p:txBody>
      </p:sp>
      <p:sp>
        <p:nvSpPr>
          <p:cNvPr id="6" name="TextBox 5"/>
          <p:cNvSpPr txBox="1"/>
          <p:nvPr/>
        </p:nvSpPr>
        <p:spPr>
          <a:xfrm>
            <a:off x="365760" y="658368"/>
            <a:ext cx="11430000" cy="347472"/>
          </a:xfrm>
          <a:prstGeom prst="rect">
            <a:avLst/>
          </a:prstGeom>
          <a:noFill/>
        </p:spPr>
        <p:txBody>
          <a:bodyPr wrap="square" lIns="91440" tIns="45720" rIns="91440" bIns="45720" anchor="t">
            <a:spAutoFit/>
          </a:bodyPr>
          <a:lstStyle/>
          <a:p>
            <a:r>
              <a:rPr sz="1500" i="1">
                <a:solidFill>
                  <a:schemeClr val="bg1"/>
                </a:solidFill>
                <a:latin typeface="Calibri"/>
              </a:rPr>
              <a:t>Market Opportunity</a:t>
            </a:r>
          </a:p>
        </p:txBody>
      </p:sp>
      <p:sp>
        <p:nvSpPr>
          <p:cNvPr id="7" name="Rectangle 6"/>
          <p:cNvSpPr/>
          <p:nvPr/>
        </p:nvSpPr>
        <p:spPr>
          <a:xfrm>
            <a:off x="0" y="6693408"/>
            <a:ext cx="12188952" cy="164592"/>
          </a:xfrm>
          <a:prstGeom prst="rect">
            <a:avLst/>
          </a:prstGeom>
          <a:solidFill>
            <a:srgbClr val="1B27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8" name="Table 7"/>
          <p:cNvGraphicFramePr>
            <a:graphicFrameLocks noGrp="1"/>
          </p:cNvGraphicFramePr>
          <p:nvPr/>
        </p:nvGraphicFramePr>
        <p:xfrm>
          <a:off x="365760" y="1188720"/>
          <a:ext cx="11430000" cy="1879600"/>
        </p:xfrm>
        <a:graphic>
          <a:graphicData uri="http://schemas.openxmlformats.org/drawingml/2006/table">
            <a:tbl>
              <a:tblPr firstRow="1" bandRow="1">
                <a:tableStyleId>{5C22544A-7EE6-4342-B048-85BDC9FD1C3A}</a:tableStyleId>
              </a:tblPr>
              <a:tblGrid>
                <a:gridCol w="3810000">
                  <a:extLst>
                    <a:ext uri="{9D8B030D-6E8A-4147-A177-3AD203B41FA5}">
                      <a16:colId xmlns:a16="http://schemas.microsoft.com/office/drawing/2014/main" val="20000"/>
                    </a:ext>
                  </a:extLst>
                </a:gridCol>
                <a:gridCol w="3810000">
                  <a:extLst>
                    <a:ext uri="{9D8B030D-6E8A-4147-A177-3AD203B41FA5}">
                      <a16:colId xmlns:a16="http://schemas.microsoft.com/office/drawing/2014/main" val="20001"/>
                    </a:ext>
                  </a:extLst>
                </a:gridCol>
                <a:gridCol w="3810000">
                  <a:extLst>
                    <a:ext uri="{9D8B030D-6E8A-4147-A177-3AD203B41FA5}">
                      <a16:colId xmlns:a16="http://schemas.microsoft.com/office/drawing/2014/main" val="20002"/>
                    </a:ext>
                  </a:extLst>
                </a:gridCol>
              </a:tblGrid>
              <a:tr h="375920">
                <a:tc>
                  <a:txBody>
                    <a:bodyPr/>
                    <a:lstStyle/>
                    <a:p>
                      <a:pPr algn="l"/>
                      <a:r>
                        <a:rPr sz="1300" b="1">
                          <a:solidFill>
                            <a:srgbClr val="FFFFFF"/>
                          </a:solidFill>
                          <a:latin typeface="Calibri"/>
                        </a:rPr>
                        <a:t>Metric</a:t>
                      </a:r>
                    </a:p>
                  </a:txBody>
                  <a:tcPr>
                    <a:solidFill>
                      <a:srgbClr val="1B275E"/>
                    </a:solidFill>
                  </a:tcPr>
                </a:tc>
                <a:tc>
                  <a:txBody>
                    <a:bodyPr/>
                    <a:lstStyle/>
                    <a:p>
                      <a:pPr algn="l"/>
                      <a:r>
                        <a:rPr sz="1300" b="1">
                          <a:solidFill>
                            <a:srgbClr val="FFFFFF"/>
                          </a:solidFill>
                          <a:latin typeface="Calibri"/>
                        </a:rPr>
                        <a:t>Value</a:t>
                      </a:r>
                    </a:p>
                  </a:txBody>
                  <a:tcPr>
                    <a:solidFill>
                      <a:srgbClr val="1B275E"/>
                    </a:solidFill>
                  </a:tcPr>
                </a:tc>
                <a:tc>
                  <a:txBody>
                    <a:bodyPr/>
                    <a:lstStyle/>
                    <a:p>
                      <a:pPr algn="l"/>
                      <a:r>
                        <a:rPr sz="1300" b="1">
                          <a:solidFill>
                            <a:srgbClr val="FFFFFF"/>
                          </a:solidFill>
                          <a:latin typeface="Calibri"/>
                        </a:rPr>
                        <a:t>Source</a:t>
                      </a:r>
                    </a:p>
                  </a:txBody>
                  <a:tcPr>
                    <a:solidFill>
                      <a:srgbClr val="1B275E"/>
                    </a:solidFill>
                  </a:tcPr>
                </a:tc>
                <a:extLst>
                  <a:ext uri="{0D108BD9-81ED-4DB2-BD59-A6C34878D82A}">
                    <a16:rowId xmlns:a16="http://schemas.microsoft.com/office/drawing/2014/main" val="10000"/>
                  </a:ext>
                </a:extLst>
              </a:tr>
              <a:tr h="375920">
                <a:tc>
                  <a:txBody>
                    <a:bodyPr/>
                    <a:lstStyle/>
                    <a:p>
                      <a:pPr algn="l"/>
                      <a:r>
                        <a:rPr sz="1300">
                          <a:solidFill>
                            <a:srgbClr val="444455"/>
                          </a:solidFill>
                          <a:latin typeface="Calibri"/>
                        </a:rPr>
                        <a:t>Global warehouse automation market by 2027</a:t>
                      </a:r>
                    </a:p>
                  </a:txBody>
                  <a:tcPr>
                    <a:solidFill>
                      <a:srgbClr val="E8F4FB"/>
                    </a:solidFill>
                  </a:tcPr>
                </a:tc>
                <a:tc>
                  <a:txBody>
                    <a:bodyPr/>
                    <a:lstStyle/>
                    <a:p>
                      <a:pPr algn="l"/>
                      <a:r>
                        <a:rPr sz="1300">
                          <a:solidFill>
                            <a:srgbClr val="444455"/>
                          </a:solidFill>
                          <a:latin typeface="Calibri"/>
                        </a:rPr>
                        <a:t>USD 41B</a:t>
                      </a:r>
                    </a:p>
                  </a:txBody>
                  <a:tcPr>
                    <a:solidFill>
                      <a:srgbClr val="E8F4FB"/>
                    </a:solidFill>
                  </a:tcPr>
                </a:tc>
                <a:tc>
                  <a:txBody>
                    <a:bodyPr/>
                    <a:lstStyle/>
                    <a:p>
                      <a:pPr algn="l"/>
                      <a:r>
                        <a:rPr sz="1300">
                          <a:solidFill>
                            <a:srgbClr val="444455"/>
                          </a:solidFill>
                          <a:latin typeface="Calibri"/>
                        </a:rPr>
                        <a:t>MarketsandMarkets, 2023</a:t>
                      </a:r>
                    </a:p>
                  </a:txBody>
                  <a:tcPr>
                    <a:solidFill>
                      <a:srgbClr val="E8F4FB"/>
                    </a:solidFill>
                  </a:tcPr>
                </a:tc>
                <a:extLst>
                  <a:ext uri="{0D108BD9-81ED-4DB2-BD59-A6C34878D82A}">
                    <a16:rowId xmlns:a16="http://schemas.microsoft.com/office/drawing/2014/main" val="10001"/>
                  </a:ext>
                </a:extLst>
              </a:tr>
              <a:tr h="375920">
                <a:tc>
                  <a:txBody>
                    <a:bodyPr/>
                    <a:lstStyle/>
                    <a:p>
                      <a:pPr algn="l"/>
                      <a:r>
                        <a:rPr sz="1300">
                          <a:solidFill>
                            <a:srgbClr val="444455"/>
                          </a:solidFill>
                          <a:latin typeface="Calibri"/>
                        </a:rPr>
                        <a:t>Hospital logistics robots market CAGR</a:t>
                      </a:r>
                    </a:p>
                  </a:txBody>
                  <a:tcPr>
                    <a:solidFill>
                      <a:srgbClr val="F0F4F8"/>
                    </a:solidFill>
                  </a:tcPr>
                </a:tc>
                <a:tc>
                  <a:txBody>
                    <a:bodyPr/>
                    <a:lstStyle/>
                    <a:p>
                      <a:pPr algn="l"/>
                      <a:r>
                        <a:rPr sz="1300">
                          <a:solidFill>
                            <a:srgbClr val="444455"/>
                          </a:solidFill>
                          <a:latin typeface="Calibri"/>
                        </a:rPr>
                        <a:t>15%</a:t>
                      </a:r>
                    </a:p>
                  </a:txBody>
                  <a:tcPr>
                    <a:solidFill>
                      <a:srgbClr val="F0F4F8"/>
                    </a:solidFill>
                  </a:tcPr>
                </a:tc>
                <a:tc>
                  <a:txBody>
                    <a:bodyPr/>
                    <a:lstStyle/>
                    <a:p>
                      <a:pPr algn="l"/>
                      <a:r>
                        <a:rPr sz="1300">
                          <a:solidFill>
                            <a:srgbClr val="444455"/>
                          </a:solidFill>
                          <a:latin typeface="Calibri"/>
                        </a:rPr>
                        <a:t>Proposal market research</a:t>
                      </a:r>
                    </a:p>
                  </a:txBody>
                  <a:tcPr>
                    <a:solidFill>
                      <a:srgbClr val="F0F4F8"/>
                    </a:solidFill>
                  </a:tcPr>
                </a:tc>
                <a:extLst>
                  <a:ext uri="{0D108BD9-81ED-4DB2-BD59-A6C34878D82A}">
                    <a16:rowId xmlns:a16="http://schemas.microsoft.com/office/drawing/2014/main" val="10002"/>
                  </a:ext>
                </a:extLst>
              </a:tr>
              <a:tr h="375920">
                <a:tc>
                  <a:txBody>
                    <a:bodyPr/>
                    <a:lstStyle/>
                    <a:p>
                      <a:pPr algn="l"/>
                      <a:r>
                        <a:rPr sz="1300">
                          <a:solidFill>
                            <a:srgbClr val="444455"/>
                          </a:solidFill>
                          <a:latin typeface="Calibri"/>
                        </a:rPr>
                        <a:t>Global industrial robot installations (2023)</a:t>
                      </a:r>
                    </a:p>
                  </a:txBody>
                  <a:tcPr>
                    <a:solidFill>
                      <a:srgbClr val="E8F4FB"/>
                    </a:solidFill>
                  </a:tcPr>
                </a:tc>
                <a:tc>
                  <a:txBody>
                    <a:bodyPr/>
                    <a:lstStyle/>
                    <a:p>
                      <a:pPr algn="l"/>
                      <a:r>
                        <a:rPr sz="1300">
                          <a:solidFill>
                            <a:srgbClr val="444455"/>
                          </a:solidFill>
                          <a:latin typeface="Calibri"/>
                        </a:rPr>
                        <a:t>500,000+ units</a:t>
                      </a:r>
                    </a:p>
                  </a:txBody>
                  <a:tcPr>
                    <a:solidFill>
                      <a:srgbClr val="E8F4FB"/>
                    </a:solidFill>
                  </a:tcPr>
                </a:tc>
                <a:tc>
                  <a:txBody>
                    <a:bodyPr/>
                    <a:lstStyle/>
                    <a:p>
                      <a:pPr algn="l"/>
                      <a:r>
                        <a:rPr sz="1300">
                          <a:solidFill>
                            <a:srgbClr val="444455"/>
                          </a:solidFill>
                          <a:latin typeface="Calibri"/>
                        </a:rPr>
                        <a:t>IFR World Robotics Report</a:t>
                      </a:r>
                    </a:p>
                  </a:txBody>
                  <a:tcPr>
                    <a:solidFill>
                      <a:srgbClr val="E8F4FB"/>
                    </a:solidFill>
                  </a:tcPr>
                </a:tc>
                <a:extLst>
                  <a:ext uri="{0D108BD9-81ED-4DB2-BD59-A6C34878D82A}">
                    <a16:rowId xmlns:a16="http://schemas.microsoft.com/office/drawing/2014/main" val="10003"/>
                  </a:ext>
                </a:extLst>
              </a:tr>
              <a:tr h="375920">
                <a:tc>
                  <a:txBody>
                    <a:bodyPr/>
                    <a:lstStyle/>
                    <a:p>
                      <a:pPr algn="l"/>
                      <a:r>
                        <a:rPr sz="1300">
                          <a:solidFill>
                            <a:srgbClr val="444455"/>
                          </a:solidFill>
                          <a:latin typeface="Calibri"/>
                        </a:rPr>
                        <a:t>Engineer cost per work cell</a:t>
                      </a:r>
                    </a:p>
                  </a:txBody>
                  <a:tcPr>
                    <a:solidFill>
                      <a:srgbClr val="F0F4F8"/>
                    </a:solidFill>
                  </a:tcPr>
                </a:tc>
                <a:tc>
                  <a:txBody>
                    <a:bodyPr/>
                    <a:lstStyle/>
                    <a:p>
                      <a:pPr algn="l"/>
                      <a:r>
                        <a:rPr sz="1300">
                          <a:solidFill>
                            <a:srgbClr val="444455"/>
                          </a:solidFill>
                          <a:latin typeface="Calibri"/>
                        </a:rPr>
                        <a:t>3–6 weeks @ $80k–$120k/yr</a:t>
                      </a:r>
                    </a:p>
                  </a:txBody>
                  <a:tcPr>
                    <a:solidFill>
                      <a:srgbClr val="F0F4F8"/>
                    </a:solidFill>
                  </a:tcPr>
                </a:tc>
                <a:tc>
                  <a:txBody>
                    <a:bodyPr/>
                    <a:lstStyle/>
                    <a:p>
                      <a:pPr algn="l"/>
                      <a:r>
                        <a:rPr sz="1300">
                          <a:solidFill>
                            <a:srgbClr val="444455"/>
                          </a:solidFill>
                          <a:latin typeface="Calibri"/>
                        </a:rPr>
                        <a:t>Proposal market research</a:t>
                      </a:r>
                    </a:p>
                  </a:txBody>
                  <a:tcPr>
                    <a:solidFill>
                      <a:srgbClr val="F0F4F8"/>
                    </a:solidFill>
                  </a:tcPr>
                </a:tc>
                <a:extLst>
                  <a:ext uri="{0D108BD9-81ED-4DB2-BD59-A6C34878D82A}">
                    <a16:rowId xmlns:a16="http://schemas.microsoft.com/office/drawing/2014/main" val="10004"/>
                  </a:ext>
                </a:extLst>
              </a:tr>
            </a:tbl>
          </a:graphicData>
        </a:graphic>
      </p:graphicFrame>
      <p:sp>
        <p:nvSpPr>
          <p:cNvPr id="9" name="TextBox 8"/>
          <p:cNvSpPr txBox="1"/>
          <p:nvPr/>
        </p:nvSpPr>
        <p:spPr>
          <a:xfrm>
            <a:off x="365760" y="3144520"/>
            <a:ext cx="11430000" cy="330200"/>
          </a:xfrm>
          <a:prstGeom prst="rect">
            <a:avLst/>
          </a:prstGeom>
          <a:noFill/>
        </p:spPr>
        <p:txBody>
          <a:bodyPr wrap="square">
            <a:spAutoFit/>
          </a:bodyPr>
          <a:lstStyle/>
          <a:p>
            <a:pPr algn="l"/>
            <a:r>
              <a:rPr sz="1500" b="1" i="0">
                <a:solidFill>
                  <a:srgbClr val="1B275E"/>
                </a:solidFill>
                <a:latin typeface="Calibri"/>
              </a:rPr>
              <a:t>Unmet need: Few open-source, interpretable, LLM-integrated task planners run fully local on commodity GPU hardware.</a:t>
            </a:r>
          </a:p>
        </p:txBody>
      </p:sp>
      <p:sp>
        <p:nvSpPr>
          <p:cNvPr id="10" name="TextBox 9"/>
          <p:cNvSpPr txBox="1"/>
          <p:nvPr/>
        </p:nvSpPr>
        <p:spPr>
          <a:xfrm>
            <a:off x="365760" y="3500120"/>
            <a:ext cx="11430000" cy="330200"/>
          </a:xfrm>
          <a:prstGeom prst="rect">
            <a:avLst/>
          </a:prstGeom>
          <a:noFill/>
        </p:spPr>
        <p:txBody>
          <a:bodyPr wrap="square">
            <a:spAutoFit/>
          </a:bodyPr>
          <a:lstStyle/>
          <a:p>
            <a:pPr algn="l"/>
            <a:r>
              <a:rPr sz="1500" b="1" i="0">
                <a:solidFill>
                  <a:srgbClr val="1B275E"/>
                </a:solidFill>
                <a:latin typeface="Calibri"/>
              </a:rPr>
              <a:t>The Planner targets: Zero licensing cost, offline operation, explainable plans.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0"/>
            <a:ext cx="12188952" cy="1051560"/>
          </a:xfrm>
          <a:prstGeom prst="rect">
            <a:avLst/>
          </a:prstGeom>
          <a:solidFill>
            <a:srgbClr val="1B27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1000760"/>
            <a:ext cx="12188952" cy="50800"/>
          </a:xfrm>
          <a:prstGeom prst="rect">
            <a:avLst/>
          </a:prstGeom>
          <a:solidFill>
            <a:srgbClr val="008B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65760" y="73152"/>
            <a:ext cx="11430000" cy="594360"/>
          </a:xfrm>
          <a:prstGeom prst="rect">
            <a:avLst/>
          </a:prstGeom>
          <a:noFill/>
        </p:spPr>
        <p:txBody>
          <a:bodyPr wrap="square">
            <a:spAutoFit/>
          </a:bodyPr>
          <a:lstStyle/>
          <a:p>
            <a:pPr algn="l"/>
            <a:r>
              <a:rPr sz="3000" b="1" i="0">
                <a:solidFill>
                  <a:srgbClr val="FFFFFF"/>
                </a:solidFill>
                <a:latin typeface="Calibri"/>
              </a:rPr>
              <a:t>Existing Approaches &amp; Why Not</a:t>
            </a:r>
          </a:p>
        </p:txBody>
      </p:sp>
      <p:sp>
        <p:nvSpPr>
          <p:cNvPr id="6" name="TextBox 5"/>
          <p:cNvSpPr txBox="1"/>
          <p:nvPr/>
        </p:nvSpPr>
        <p:spPr>
          <a:xfrm>
            <a:off x="365760" y="658368"/>
            <a:ext cx="11430000" cy="347472"/>
          </a:xfrm>
          <a:prstGeom prst="rect">
            <a:avLst/>
          </a:prstGeom>
          <a:noFill/>
        </p:spPr>
        <p:txBody>
          <a:bodyPr wrap="square" lIns="91440" tIns="45720" rIns="91440" bIns="45720" anchor="t">
            <a:spAutoFit/>
          </a:bodyPr>
          <a:lstStyle/>
          <a:p>
            <a:r>
              <a:rPr sz="1500" i="1">
                <a:solidFill>
                  <a:schemeClr val="bg1"/>
                </a:solidFill>
                <a:latin typeface="Calibri"/>
              </a:rPr>
              <a:t>What Exists Today — And Why It Falls Short</a:t>
            </a:r>
          </a:p>
        </p:txBody>
      </p:sp>
      <p:sp>
        <p:nvSpPr>
          <p:cNvPr id="7" name="Rectangle 6"/>
          <p:cNvSpPr/>
          <p:nvPr/>
        </p:nvSpPr>
        <p:spPr>
          <a:xfrm>
            <a:off x="0" y="6693408"/>
            <a:ext cx="12188952" cy="164592"/>
          </a:xfrm>
          <a:prstGeom prst="rect">
            <a:avLst/>
          </a:prstGeom>
          <a:solidFill>
            <a:srgbClr val="1B27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8" name="Table 7"/>
          <p:cNvGraphicFramePr>
            <a:graphicFrameLocks noGrp="1"/>
          </p:cNvGraphicFramePr>
          <p:nvPr/>
        </p:nvGraphicFramePr>
        <p:xfrm>
          <a:off x="365760" y="1188720"/>
          <a:ext cx="11430000" cy="2861734"/>
        </p:xfrm>
        <a:graphic>
          <a:graphicData uri="http://schemas.openxmlformats.org/drawingml/2006/table">
            <a:tbl>
              <a:tblPr firstRow="1" bandRow="1">
                <a:tableStyleId>{5C22544A-7EE6-4342-B048-85BDC9FD1C3A}</a:tableStyleId>
              </a:tblPr>
              <a:tblGrid>
                <a:gridCol w="2857500">
                  <a:extLst>
                    <a:ext uri="{9D8B030D-6E8A-4147-A177-3AD203B41FA5}">
                      <a16:colId xmlns:a16="http://schemas.microsoft.com/office/drawing/2014/main" val="20000"/>
                    </a:ext>
                  </a:extLst>
                </a:gridCol>
                <a:gridCol w="2857500">
                  <a:extLst>
                    <a:ext uri="{9D8B030D-6E8A-4147-A177-3AD203B41FA5}">
                      <a16:colId xmlns:a16="http://schemas.microsoft.com/office/drawing/2014/main" val="20001"/>
                    </a:ext>
                  </a:extLst>
                </a:gridCol>
                <a:gridCol w="2857500">
                  <a:extLst>
                    <a:ext uri="{9D8B030D-6E8A-4147-A177-3AD203B41FA5}">
                      <a16:colId xmlns:a16="http://schemas.microsoft.com/office/drawing/2014/main" val="20002"/>
                    </a:ext>
                  </a:extLst>
                </a:gridCol>
                <a:gridCol w="2857500">
                  <a:extLst>
                    <a:ext uri="{9D8B030D-6E8A-4147-A177-3AD203B41FA5}">
                      <a16:colId xmlns:a16="http://schemas.microsoft.com/office/drawing/2014/main" val="20003"/>
                    </a:ext>
                  </a:extLst>
                </a:gridCol>
              </a:tblGrid>
              <a:tr h="372533">
                <a:tc>
                  <a:txBody>
                    <a:bodyPr/>
                    <a:lstStyle/>
                    <a:p>
                      <a:pPr algn="l"/>
                      <a:r>
                        <a:rPr sz="1300" b="1">
                          <a:solidFill>
                            <a:srgbClr val="FFFFFF"/>
                          </a:solidFill>
                          <a:latin typeface="Calibri"/>
                        </a:rPr>
                        <a:t>Approach</a:t>
                      </a:r>
                    </a:p>
                  </a:txBody>
                  <a:tcPr>
                    <a:solidFill>
                      <a:srgbClr val="1B275E"/>
                    </a:solidFill>
                  </a:tcPr>
                </a:tc>
                <a:tc>
                  <a:txBody>
                    <a:bodyPr/>
                    <a:lstStyle/>
                    <a:p>
                      <a:pPr algn="l"/>
                      <a:r>
                        <a:rPr sz="1300" b="1">
                          <a:solidFill>
                            <a:srgbClr val="FFFFFF"/>
                          </a:solidFill>
                          <a:latin typeface="Calibri"/>
                        </a:rPr>
                        <a:t>Representative Tools</a:t>
                      </a:r>
                    </a:p>
                  </a:txBody>
                  <a:tcPr>
                    <a:solidFill>
                      <a:srgbClr val="1B275E"/>
                    </a:solidFill>
                  </a:tcPr>
                </a:tc>
                <a:tc>
                  <a:txBody>
                    <a:bodyPr/>
                    <a:lstStyle/>
                    <a:p>
                      <a:pPr algn="l"/>
                      <a:r>
                        <a:rPr sz="1300" b="1">
                          <a:solidFill>
                            <a:srgbClr val="FFFFFF"/>
                          </a:solidFill>
                          <a:latin typeface="Calibri"/>
                        </a:rPr>
                        <a:t>Limitation</a:t>
                      </a:r>
                    </a:p>
                  </a:txBody>
                  <a:tcPr>
                    <a:solidFill>
                      <a:srgbClr val="1B275E"/>
                    </a:solidFill>
                  </a:tcPr>
                </a:tc>
                <a:tc>
                  <a:txBody>
                    <a:bodyPr/>
                    <a:lstStyle/>
                    <a:p>
                      <a:pPr algn="l"/>
                      <a:r>
                        <a:rPr sz="1300" b="1">
                          <a:solidFill>
                            <a:srgbClr val="FFFFFF"/>
                          </a:solidFill>
                          <a:latin typeface="Calibri"/>
                        </a:rPr>
                        <a:t>Gap</a:t>
                      </a:r>
                    </a:p>
                  </a:txBody>
                  <a:tcPr>
                    <a:solidFill>
                      <a:srgbClr val="1B275E"/>
                    </a:solidFill>
                  </a:tcPr>
                </a:tc>
                <a:extLst>
                  <a:ext uri="{0D108BD9-81ED-4DB2-BD59-A6C34878D82A}">
                    <a16:rowId xmlns:a16="http://schemas.microsoft.com/office/drawing/2014/main" val="10000"/>
                  </a:ext>
                </a:extLst>
              </a:tr>
              <a:tr h="372533">
                <a:tc>
                  <a:txBody>
                    <a:bodyPr/>
                    <a:lstStyle/>
                    <a:p>
                      <a:pPr algn="l"/>
                      <a:r>
                        <a:rPr sz="1300">
                          <a:solidFill>
                            <a:srgbClr val="444455"/>
                          </a:solidFill>
                          <a:latin typeface="Calibri"/>
                        </a:rPr>
                        <a:t>Pre-built symbolic planners</a:t>
                      </a:r>
                    </a:p>
                  </a:txBody>
                  <a:tcPr>
                    <a:solidFill>
                      <a:srgbClr val="E8F4FB"/>
                    </a:solidFill>
                  </a:tcPr>
                </a:tc>
                <a:tc>
                  <a:txBody>
                    <a:bodyPr/>
                    <a:lstStyle/>
                    <a:p>
                      <a:pPr algn="l"/>
                      <a:r>
                        <a:rPr sz="1300">
                          <a:solidFill>
                            <a:srgbClr val="444455"/>
                          </a:solidFill>
                          <a:latin typeface="Calibri"/>
                        </a:rPr>
                        <a:t>FastDownward, FF, ENHSP</a:t>
                      </a:r>
                    </a:p>
                  </a:txBody>
                  <a:tcPr>
                    <a:solidFill>
                      <a:srgbClr val="E8F4FB"/>
                    </a:solidFill>
                  </a:tcPr>
                </a:tc>
                <a:tc>
                  <a:txBody>
                    <a:bodyPr/>
                    <a:lstStyle/>
                    <a:p>
                      <a:pPr algn="l"/>
                      <a:r>
                        <a:rPr sz="1300">
                          <a:solidFill>
                            <a:srgbClr val="444455"/>
                          </a:solidFill>
                          <a:latin typeface="Calibri"/>
                        </a:rPr>
                        <a:t>Open-source but used as external executables — calling them does not show direct understanding of search algorithms</a:t>
                      </a:r>
                    </a:p>
                  </a:txBody>
                  <a:tcPr>
                    <a:solidFill>
                      <a:srgbClr val="E8F4FB"/>
                    </a:solidFill>
                  </a:tcPr>
                </a:tc>
                <a:tc>
                  <a:txBody>
                    <a:bodyPr/>
                    <a:lstStyle/>
                    <a:p>
                      <a:pPr algn="l"/>
                      <a:r>
                        <a:rPr sz="1300">
                          <a:solidFill>
                            <a:srgbClr val="444455"/>
                          </a:solidFill>
                          <a:latin typeface="Calibri"/>
                        </a:rPr>
                        <a:t>Calling an external binary does not demonstrate working knowledge of the underlying search algorithms</a:t>
                      </a:r>
                    </a:p>
                  </a:txBody>
                  <a:tcPr>
                    <a:solidFill>
                      <a:srgbClr val="E8F4FB"/>
                    </a:solidFill>
                  </a:tcPr>
                </a:tc>
                <a:extLst>
                  <a:ext uri="{0D108BD9-81ED-4DB2-BD59-A6C34878D82A}">
                    <a16:rowId xmlns:a16="http://schemas.microsoft.com/office/drawing/2014/main" val="10001"/>
                  </a:ext>
                </a:extLst>
              </a:tr>
              <a:tr h="372533">
                <a:tc>
                  <a:txBody>
                    <a:bodyPr/>
                    <a:lstStyle/>
                    <a:p>
                      <a:pPr algn="l"/>
                      <a:r>
                        <a:rPr sz="1300">
                          <a:solidFill>
                            <a:srgbClr val="444455"/>
                          </a:solidFill>
                          <a:latin typeface="Calibri"/>
                        </a:rPr>
                        <a:t>Pure LLM planning</a:t>
                      </a:r>
                    </a:p>
                  </a:txBody>
                  <a:tcPr>
                    <a:solidFill>
                      <a:srgbClr val="F0F4F8"/>
                    </a:solidFill>
                  </a:tcPr>
                </a:tc>
                <a:tc>
                  <a:txBody>
                    <a:bodyPr/>
                    <a:lstStyle/>
                    <a:p>
                      <a:pPr algn="l"/>
                      <a:r>
                        <a:rPr sz="1300">
                          <a:solidFill>
                            <a:srgbClr val="444455"/>
                          </a:solidFill>
                          <a:latin typeface="Calibri"/>
                        </a:rPr>
                        <a:t>GPT-4, PaLM, LLaMA alone</a:t>
                      </a:r>
                    </a:p>
                  </a:txBody>
                  <a:tcPr>
                    <a:solidFill>
                      <a:srgbClr val="F0F4F8"/>
                    </a:solidFill>
                  </a:tcPr>
                </a:tc>
                <a:tc>
                  <a:txBody>
                    <a:bodyPr/>
                    <a:lstStyle/>
                    <a:p>
                      <a:pPr algn="l"/>
                      <a:r>
                        <a:rPr sz="1300">
                          <a:solidFill>
                            <a:srgbClr val="444455"/>
                          </a:solidFill>
                          <a:latin typeface="Calibri"/>
                        </a:rPr>
                        <a:t>Hallucinated actions; unverifiable plans</a:t>
                      </a:r>
                    </a:p>
                  </a:txBody>
                  <a:tcPr>
                    <a:solidFill>
                      <a:srgbClr val="F0F4F8"/>
                    </a:solidFill>
                  </a:tcPr>
                </a:tc>
                <a:tc>
                  <a:txBody>
                    <a:bodyPr/>
                    <a:lstStyle/>
                    <a:p>
                      <a:pPr algn="l"/>
                      <a:r>
                        <a:rPr sz="1300">
                          <a:solidFill>
                            <a:srgbClr val="444455"/>
                          </a:solidFill>
                          <a:latin typeface="Calibri"/>
                        </a:rPr>
                        <a:t>No formal correctness guarantee</a:t>
                      </a:r>
                    </a:p>
                  </a:txBody>
                  <a:tcPr>
                    <a:solidFill>
                      <a:srgbClr val="F0F4F8"/>
                    </a:solidFill>
                  </a:tcPr>
                </a:tc>
                <a:extLst>
                  <a:ext uri="{0D108BD9-81ED-4DB2-BD59-A6C34878D82A}">
                    <a16:rowId xmlns:a16="http://schemas.microsoft.com/office/drawing/2014/main" val="10002"/>
                  </a:ext>
                </a:extLst>
              </a:tr>
              <a:tr h="372533">
                <a:tc>
                  <a:txBody>
                    <a:bodyPr/>
                    <a:lstStyle/>
                    <a:p>
                      <a:pPr algn="l"/>
                      <a:r>
                        <a:rPr sz="1300">
                          <a:solidFill>
                            <a:srgbClr val="444455"/>
                          </a:solidFill>
                          <a:latin typeface="Calibri"/>
                        </a:rPr>
                        <a:t>Behaviour Trees only</a:t>
                      </a:r>
                    </a:p>
                  </a:txBody>
                  <a:tcPr>
                    <a:solidFill>
                      <a:srgbClr val="E8F4FB"/>
                    </a:solidFill>
                  </a:tcPr>
                </a:tc>
                <a:tc>
                  <a:txBody>
                    <a:bodyPr/>
                    <a:lstStyle/>
                    <a:p>
                      <a:pPr algn="l"/>
                      <a:r>
                        <a:rPr sz="1300">
                          <a:solidFill>
                            <a:srgbClr val="444455"/>
                          </a:solidFill>
                          <a:latin typeface="Calibri"/>
                        </a:rPr>
                        <a:t>Nav2, BT.cpp</a:t>
                      </a:r>
                    </a:p>
                  </a:txBody>
                  <a:tcPr>
                    <a:solidFill>
                      <a:srgbClr val="E8F4FB"/>
                    </a:solidFill>
                  </a:tcPr>
                </a:tc>
                <a:tc>
                  <a:txBody>
                    <a:bodyPr/>
                    <a:lstStyle/>
                    <a:p>
                      <a:pPr algn="l"/>
                      <a:r>
                        <a:rPr sz="1300">
                          <a:solidFill>
                            <a:srgbClr val="444455"/>
                          </a:solidFill>
                          <a:latin typeface="Calibri"/>
                        </a:rPr>
                        <a:t>Hard-coded; no search or optimisation</a:t>
                      </a:r>
                    </a:p>
                  </a:txBody>
                  <a:tcPr>
                    <a:solidFill>
                      <a:srgbClr val="E8F4FB"/>
                    </a:solidFill>
                  </a:tcPr>
                </a:tc>
                <a:tc>
                  <a:txBody>
                    <a:bodyPr/>
                    <a:lstStyle/>
                    <a:p>
                      <a:pPr algn="l"/>
                      <a:r>
                        <a:rPr sz="1300">
                          <a:solidFill>
                            <a:srgbClr val="444455"/>
                          </a:solidFill>
                          <a:latin typeface="Calibri"/>
                        </a:rPr>
                        <a:t>Cannot handle novel task combinations</a:t>
                      </a:r>
                    </a:p>
                  </a:txBody>
                  <a:tcPr>
                    <a:solidFill>
                      <a:srgbClr val="E8F4FB"/>
                    </a:solidFill>
                  </a:tcPr>
                </a:tc>
                <a:extLst>
                  <a:ext uri="{0D108BD9-81ED-4DB2-BD59-A6C34878D82A}">
                    <a16:rowId xmlns:a16="http://schemas.microsoft.com/office/drawing/2014/main" val="10003"/>
                  </a:ext>
                </a:extLst>
              </a:tr>
              <a:tr h="372533">
                <a:tc>
                  <a:txBody>
                    <a:bodyPr/>
                    <a:lstStyle/>
                    <a:p>
                      <a:pPr algn="l"/>
                      <a:r>
                        <a:rPr sz="1300">
                          <a:solidFill>
                            <a:srgbClr val="444455"/>
                          </a:solidFill>
                          <a:latin typeface="Calibri"/>
                        </a:rPr>
                        <a:t>RL / model-based RL</a:t>
                      </a:r>
                    </a:p>
                  </a:txBody>
                  <a:tcPr>
                    <a:solidFill>
                      <a:srgbClr val="F0F4F8"/>
                    </a:solidFill>
                  </a:tcPr>
                </a:tc>
                <a:tc>
                  <a:txBody>
                    <a:bodyPr/>
                    <a:lstStyle/>
                    <a:p>
                      <a:pPr algn="l"/>
                      <a:r>
                        <a:rPr sz="1300">
                          <a:solidFill>
                            <a:srgbClr val="444455"/>
                          </a:solidFill>
                          <a:latin typeface="Calibri"/>
                        </a:rPr>
                        <a:t>DreamerV3, TD-MPC2</a:t>
                      </a:r>
                    </a:p>
                  </a:txBody>
                  <a:tcPr>
                    <a:solidFill>
                      <a:srgbClr val="F0F4F8"/>
                    </a:solidFill>
                  </a:tcPr>
                </a:tc>
                <a:tc>
                  <a:txBody>
                    <a:bodyPr/>
                    <a:lstStyle/>
                    <a:p>
                      <a:pPr algn="l"/>
                      <a:r>
                        <a:rPr sz="1300">
                          <a:solidFill>
                            <a:srgbClr val="444455"/>
                          </a:solidFill>
                          <a:latin typeface="Calibri"/>
                        </a:rPr>
                        <a:t>Millions of env steps; uninterpretable</a:t>
                      </a:r>
                    </a:p>
                  </a:txBody>
                  <a:tcPr>
                    <a:solidFill>
                      <a:srgbClr val="F0F4F8"/>
                    </a:solidFill>
                  </a:tcPr>
                </a:tc>
                <a:tc>
                  <a:txBody>
                    <a:bodyPr/>
                    <a:lstStyle/>
                    <a:p>
                      <a:pPr algn="l"/>
                      <a:r>
                        <a:rPr sz="1300">
                          <a:solidFill>
                            <a:srgbClr val="444455"/>
                          </a:solidFill>
                          <a:latin typeface="Calibri"/>
                        </a:rPr>
                        <a:t>Impractical for sparse-reward manipulation</a:t>
                      </a:r>
                    </a:p>
                  </a:txBody>
                  <a:tcPr>
                    <a:solidFill>
                      <a:srgbClr val="F0F4F8"/>
                    </a:solidFill>
                  </a:tcPr>
                </a:tc>
                <a:extLst>
                  <a:ext uri="{0D108BD9-81ED-4DB2-BD59-A6C34878D82A}">
                    <a16:rowId xmlns:a16="http://schemas.microsoft.com/office/drawing/2014/main" val="10004"/>
                  </a:ext>
                </a:extLst>
              </a:tr>
              <a:tr h="372535">
                <a:tc>
                  <a:txBody>
                    <a:bodyPr/>
                    <a:lstStyle/>
                    <a:p>
                      <a:pPr algn="l"/>
                      <a:r>
                        <a:rPr sz="1300">
                          <a:solidFill>
                            <a:srgbClr val="444455"/>
                          </a:solidFill>
                          <a:latin typeface="Calibri"/>
                        </a:rPr>
                        <a:t>MoveIt/OMPL only</a:t>
                      </a:r>
                    </a:p>
                  </a:txBody>
                  <a:tcPr>
                    <a:solidFill>
                      <a:srgbClr val="E8F4FB"/>
                    </a:solidFill>
                  </a:tcPr>
                </a:tc>
                <a:tc>
                  <a:txBody>
                    <a:bodyPr/>
                    <a:lstStyle/>
                    <a:p>
                      <a:pPr algn="l"/>
                      <a:r>
                        <a:rPr sz="1300">
                          <a:solidFill>
                            <a:srgbClr val="444455"/>
                          </a:solidFill>
                          <a:latin typeface="Calibri"/>
                        </a:rPr>
                        <a:t>MoveIt2 + OMPL</a:t>
                      </a:r>
                    </a:p>
                  </a:txBody>
                  <a:tcPr>
                    <a:solidFill>
                      <a:srgbClr val="E8F4FB"/>
                    </a:solidFill>
                  </a:tcPr>
                </a:tc>
                <a:tc>
                  <a:txBody>
                    <a:bodyPr/>
                    <a:lstStyle/>
                    <a:p>
                      <a:pPr algn="l"/>
                      <a:r>
                        <a:rPr sz="1300">
                          <a:solidFill>
                            <a:srgbClr val="444455"/>
                          </a:solidFill>
                          <a:latin typeface="Calibri"/>
                        </a:rPr>
                        <a:t>Motion-only; no task-level reasoning</a:t>
                      </a:r>
                    </a:p>
                  </a:txBody>
                  <a:tcPr>
                    <a:solidFill>
                      <a:srgbClr val="E8F4FB"/>
                    </a:solidFill>
                  </a:tcPr>
                </a:tc>
                <a:tc>
                  <a:txBody>
                    <a:bodyPr/>
                    <a:lstStyle/>
                    <a:p>
                      <a:pPr algn="l"/>
                      <a:r>
                        <a:rPr sz="1300">
                          <a:solidFill>
                            <a:srgbClr val="444455"/>
                          </a:solidFill>
                          <a:latin typeface="Calibri"/>
                        </a:rPr>
                        <a:t>No PDDL; no goal decomposition</a:t>
                      </a:r>
                    </a:p>
                  </a:txBody>
                  <a:tcPr>
                    <a:solidFill>
                      <a:srgbClr val="E8F4FB"/>
                    </a:solidFill>
                  </a:tcPr>
                </a:tc>
                <a:extLst>
                  <a:ext uri="{0D108BD9-81ED-4DB2-BD59-A6C34878D82A}">
                    <a16:rowId xmlns:a16="http://schemas.microsoft.com/office/drawing/2014/main" val="10005"/>
                  </a:ext>
                </a:extLst>
              </a:tr>
            </a:tbl>
          </a:graphicData>
        </a:graphic>
      </p:graphicFrame>
      <p:sp>
        <p:nvSpPr>
          <p:cNvPr id="9" name="TextBox 8"/>
          <p:cNvSpPr txBox="1"/>
          <p:nvPr/>
        </p:nvSpPr>
        <p:spPr>
          <a:xfrm>
            <a:off x="381315" y="4207590"/>
            <a:ext cx="11430000" cy="304800"/>
          </a:xfrm>
          <a:prstGeom prst="rect">
            <a:avLst/>
          </a:prstGeom>
          <a:noFill/>
        </p:spPr>
        <p:txBody>
          <a:bodyPr wrap="square">
            <a:spAutoFit/>
          </a:bodyPr>
          <a:lstStyle/>
          <a:p>
            <a:pPr algn="l"/>
            <a:r>
              <a:rPr sz="1400" b="1" i="0">
                <a:solidFill>
                  <a:srgbClr val="008BB4"/>
                </a:solidFill>
                <a:latin typeface="Calibri"/>
              </a:rPr>
              <a:t>Key insight</a:t>
            </a:r>
          </a:p>
        </p:txBody>
      </p:sp>
      <p:sp>
        <p:nvSpPr>
          <p:cNvPr id="10" name="Rectangle 9"/>
          <p:cNvSpPr/>
          <p:nvPr/>
        </p:nvSpPr>
        <p:spPr>
          <a:xfrm>
            <a:off x="381315" y="4623308"/>
            <a:ext cx="11430000" cy="508000"/>
          </a:xfrm>
          <a:prstGeom prst="rect">
            <a:avLst/>
          </a:prstGeom>
          <a:solidFill>
            <a:srgbClr val="1B27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82915" y="4661408"/>
            <a:ext cx="11226800" cy="431800"/>
          </a:xfrm>
          <a:prstGeom prst="rect">
            <a:avLst/>
          </a:prstGeom>
          <a:noFill/>
        </p:spPr>
        <p:txBody>
          <a:bodyPr wrap="square">
            <a:spAutoFit/>
          </a:bodyPr>
          <a:lstStyle/>
          <a:p>
            <a:pPr algn="l"/>
            <a:r>
              <a:rPr sz="1300" b="0" i="1">
                <a:solidFill>
                  <a:srgbClr val="FFB300"/>
                </a:solidFill>
                <a:latin typeface="Calibri"/>
              </a:rPr>
              <a:t>LLMs are good at language understanding, not plan correctness.</a:t>
            </a:r>
          </a:p>
        </p:txBody>
      </p:sp>
      <p:sp>
        <p:nvSpPr>
          <p:cNvPr id="12" name="Rectangle 11"/>
          <p:cNvSpPr/>
          <p:nvPr/>
        </p:nvSpPr>
        <p:spPr>
          <a:xfrm>
            <a:off x="381315" y="5182108"/>
            <a:ext cx="11430000" cy="508000"/>
          </a:xfrm>
          <a:prstGeom prst="rect">
            <a:avLst/>
          </a:prstGeom>
          <a:solidFill>
            <a:srgbClr val="1B27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82915" y="5220208"/>
            <a:ext cx="11226800" cy="431800"/>
          </a:xfrm>
          <a:prstGeom prst="rect">
            <a:avLst/>
          </a:prstGeom>
          <a:noFill/>
        </p:spPr>
        <p:txBody>
          <a:bodyPr wrap="square">
            <a:spAutoFit/>
          </a:bodyPr>
          <a:lstStyle/>
          <a:p>
            <a:pPr algn="l"/>
            <a:r>
              <a:rPr sz="1300" b="0" i="1">
                <a:solidFill>
                  <a:srgbClr val="FFB300"/>
                </a:solidFill>
                <a:latin typeface="Calibri"/>
              </a:rPr>
              <a:t>Symbolic planners are good at correctness, not natural language.</a:t>
            </a:r>
          </a:p>
        </p:txBody>
      </p:sp>
      <p:sp>
        <p:nvSpPr>
          <p:cNvPr id="14" name="Rectangle 13"/>
          <p:cNvSpPr/>
          <p:nvPr/>
        </p:nvSpPr>
        <p:spPr>
          <a:xfrm>
            <a:off x="381315" y="5740908"/>
            <a:ext cx="11430000" cy="508000"/>
          </a:xfrm>
          <a:prstGeom prst="rect">
            <a:avLst/>
          </a:prstGeom>
          <a:solidFill>
            <a:srgbClr val="1B27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82915" y="5779008"/>
            <a:ext cx="11226800" cy="431800"/>
          </a:xfrm>
          <a:prstGeom prst="rect">
            <a:avLst/>
          </a:prstGeom>
          <a:noFill/>
        </p:spPr>
        <p:txBody>
          <a:bodyPr wrap="square">
            <a:spAutoFit/>
          </a:bodyPr>
          <a:lstStyle/>
          <a:p>
            <a:pPr algn="l"/>
            <a:r>
              <a:rPr sz="1300" b="0" i="1">
                <a:solidFill>
                  <a:srgbClr val="FFB300"/>
                </a:solidFill>
                <a:latin typeface="Calibri"/>
              </a:rPr>
              <a:t>The Planner combines both — each doing what it does best.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0"/>
            <a:ext cx="12188952" cy="1051560"/>
          </a:xfrm>
          <a:prstGeom prst="rect">
            <a:avLst/>
          </a:prstGeom>
          <a:solidFill>
            <a:srgbClr val="1B27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1000760"/>
            <a:ext cx="12188952" cy="50800"/>
          </a:xfrm>
          <a:prstGeom prst="rect">
            <a:avLst/>
          </a:prstGeom>
          <a:solidFill>
            <a:srgbClr val="008B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65760" y="73152"/>
            <a:ext cx="11430000" cy="594360"/>
          </a:xfrm>
          <a:prstGeom prst="rect">
            <a:avLst/>
          </a:prstGeom>
          <a:noFill/>
        </p:spPr>
        <p:txBody>
          <a:bodyPr wrap="square">
            <a:spAutoFit/>
          </a:bodyPr>
          <a:lstStyle/>
          <a:p>
            <a:pPr algn="l"/>
            <a:r>
              <a:rPr sz="3000" b="1" i="0">
                <a:solidFill>
                  <a:srgbClr val="FFFFFF"/>
                </a:solidFill>
                <a:latin typeface="Calibri"/>
              </a:rPr>
              <a:t>Why This Approach</a:t>
            </a:r>
          </a:p>
        </p:txBody>
      </p:sp>
      <p:sp>
        <p:nvSpPr>
          <p:cNvPr id="6" name="TextBox 5"/>
          <p:cNvSpPr txBox="1"/>
          <p:nvPr/>
        </p:nvSpPr>
        <p:spPr>
          <a:xfrm>
            <a:off x="365760" y="658368"/>
            <a:ext cx="11430000" cy="347472"/>
          </a:xfrm>
          <a:prstGeom prst="rect">
            <a:avLst/>
          </a:prstGeom>
          <a:noFill/>
        </p:spPr>
        <p:txBody>
          <a:bodyPr wrap="square" lIns="91440" tIns="45720" rIns="91440" bIns="45720" anchor="t">
            <a:spAutoFit/>
          </a:bodyPr>
          <a:lstStyle/>
          <a:p>
            <a:r>
              <a:rPr sz="1500" i="1">
                <a:solidFill>
                  <a:schemeClr val="bg1"/>
                </a:solidFill>
                <a:latin typeface="Calibri"/>
              </a:rPr>
              <a:t>Design Rationale: Hybrid Symbolic + Neural</a:t>
            </a:r>
          </a:p>
        </p:txBody>
      </p:sp>
      <p:sp>
        <p:nvSpPr>
          <p:cNvPr id="7" name="Rectangle 6"/>
          <p:cNvSpPr/>
          <p:nvPr/>
        </p:nvSpPr>
        <p:spPr>
          <a:xfrm>
            <a:off x="0" y="6693408"/>
            <a:ext cx="12188952" cy="164592"/>
          </a:xfrm>
          <a:prstGeom prst="rect">
            <a:avLst/>
          </a:prstGeom>
          <a:solidFill>
            <a:srgbClr val="1B27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4023360" y="1188720"/>
            <a:ext cx="7772400" cy="330200"/>
          </a:xfrm>
          <a:prstGeom prst="rect">
            <a:avLst/>
          </a:prstGeom>
          <a:noFill/>
        </p:spPr>
        <p:txBody>
          <a:bodyPr wrap="square">
            <a:spAutoFit/>
          </a:bodyPr>
          <a:lstStyle/>
          <a:p>
            <a:pPr algn="l"/>
            <a:r>
              <a:rPr sz="1500" b="1" i="0" dirty="0">
                <a:solidFill>
                  <a:srgbClr val="1B275E"/>
                </a:solidFill>
                <a:latin typeface="Calibri"/>
              </a:rPr>
              <a:t>Why C++ from scratch (not </a:t>
            </a:r>
            <a:r>
              <a:rPr sz="1500" b="1" i="0" dirty="0" err="1">
                <a:solidFill>
                  <a:srgbClr val="1B275E"/>
                </a:solidFill>
                <a:latin typeface="Calibri"/>
              </a:rPr>
              <a:t>FastDownward</a:t>
            </a:r>
            <a:r>
              <a:rPr sz="1500" b="1" i="0" dirty="0">
                <a:solidFill>
                  <a:srgbClr val="1B275E"/>
                </a:solidFill>
                <a:latin typeface="Calibri"/>
              </a:rPr>
              <a:t>)?</a:t>
            </a:r>
          </a:p>
        </p:txBody>
      </p:sp>
      <p:sp>
        <p:nvSpPr>
          <p:cNvPr id="28" name="TextBox 27"/>
          <p:cNvSpPr txBox="1"/>
          <p:nvPr/>
        </p:nvSpPr>
        <p:spPr>
          <a:xfrm>
            <a:off x="4023360" y="1544320"/>
            <a:ext cx="7772400" cy="962025"/>
          </a:xfrm>
          <a:prstGeom prst="rect">
            <a:avLst/>
          </a:prstGeom>
          <a:noFill/>
        </p:spPr>
        <p:txBody>
          <a:bodyPr wrap="square">
            <a:spAutoFit/>
          </a:bodyPr>
          <a:lstStyle/>
          <a:p>
            <a:r>
              <a:rPr sz="1500" dirty="0">
                <a:solidFill>
                  <a:srgbClr val="444455"/>
                </a:solidFill>
                <a:latin typeface="Calibri"/>
              </a:rPr>
              <a:t>• </a:t>
            </a:r>
            <a:r>
              <a:rPr sz="1500" dirty="0" err="1">
                <a:solidFill>
                  <a:srgbClr val="444455"/>
                </a:solidFill>
                <a:latin typeface="Calibri"/>
              </a:rPr>
              <a:t>FastDownward</a:t>
            </a:r>
            <a:r>
              <a:rPr sz="1500" dirty="0">
                <a:solidFill>
                  <a:srgbClr val="444455"/>
                </a:solidFill>
                <a:latin typeface="Calibri"/>
              </a:rPr>
              <a:t> and FF are open-source (GPL v3) — but invoking them as external executables does not directly show understanding of how A* search works</a:t>
            </a:r>
          </a:p>
          <a:p>
            <a:r>
              <a:rPr sz="1500">
                <a:solidFill>
                  <a:srgbClr val="444455"/>
                </a:solidFill>
                <a:latin typeface="Calibri"/>
              </a:rPr>
              <a:t>• The IRS PM assessment rewards a direct implementation of search algorithms</a:t>
            </a:r>
          </a:p>
          <a:p>
            <a:r>
              <a:rPr sz="1500">
                <a:solidFill>
                  <a:srgbClr val="444455"/>
                </a:solidFill>
                <a:latin typeface="Calibri"/>
              </a:rPr>
              <a:t>• Custom A exposes state-space expansion, heuristic design, and cost function — this is the primary technical contribution*</a:t>
            </a:r>
          </a:p>
        </p:txBody>
      </p:sp>
      <p:sp>
        <p:nvSpPr>
          <p:cNvPr id="29" name="TextBox 28"/>
          <p:cNvSpPr txBox="1"/>
          <p:nvPr/>
        </p:nvSpPr>
        <p:spPr>
          <a:xfrm>
            <a:off x="3961141" y="3474523"/>
            <a:ext cx="7772400" cy="330200"/>
          </a:xfrm>
          <a:prstGeom prst="rect">
            <a:avLst/>
          </a:prstGeom>
          <a:noFill/>
        </p:spPr>
        <p:txBody>
          <a:bodyPr wrap="square">
            <a:spAutoFit/>
          </a:bodyPr>
          <a:lstStyle/>
          <a:p>
            <a:pPr algn="l"/>
            <a:r>
              <a:rPr sz="1500" b="1" i="0">
                <a:solidFill>
                  <a:srgbClr val="1B275E"/>
                </a:solidFill>
                <a:latin typeface="Calibri"/>
              </a:rPr>
              <a:t>Why LLaMA-3 local (not GPT-4 API)?</a:t>
            </a:r>
          </a:p>
        </p:txBody>
      </p:sp>
      <p:sp>
        <p:nvSpPr>
          <p:cNvPr id="30" name="TextBox 29"/>
          <p:cNvSpPr txBox="1"/>
          <p:nvPr/>
        </p:nvSpPr>
        <p:spPr>
          <a:xfrm>
            <a:off x="3961141" y="3830123"/>
            <a:ext cx="7772400" cy="962025"/>
          </a:xfrm>
          <a:prstGeom prst="rect">
            <a:avLst/>
          </a:prstGeom>
          <a:noFill/>
        </p:spPr>
        <p:txBody>
          <a:bodyPr wrap="square">
            <a:spAutoFit/>
          </a:bodyPr>
          <a:lstStyle/>
          <a:p>
            <a:r>
              <a:rPr sz="1500">
                <a:solidFill>
                  <a:srgbClr val="444455"/>
                </a:solidFill>
                <a:latin typeface="Calibri"/>
              </a:rPr>
              <a:t>• Zero API cost; zero data egress; offline capable</a:t>
            </a:r>
          </a:p>
          <a:p>
            <a:r>
              <a:rPr sz="1500">
                <a:solidFill>
                  <a:srgbClr val="444455"/>
                </a:solidFill>
                <a:latin typeface="Calibri"/>
              </a:rPr>
              <a:t>• NL→PDDL extraction is bounded task — 8B parameters sufficient</a:t>
            </a:r>
          </a:p>
          <a:p>
            <a:r>
              <a:rPr sz="1500">
                <a:solidFill>
                  <a:srgbClr val="444455"/>
                </a:solidFill>
                <a:latin typeface="Calibri"/>
              </a:rPr>
              <a:t>• ~5–6GB VRAM (model weights + KV cache), fits on RTX 5070 Ti alongside Isaac Sim</a:t>
            </a:r>
          </a:p>
        </p:txBody>
      </p:sp>
      <p:pic>
        <p:nvPicPr>
          <p:cNvPr id="2" name="Picture 1" descr="A diagram of a plan&#10;&#10;AI-generated content may be incorrect.">
            <a:extLst>
              <a:ext uri="{FF2B5EF4-FFF2-40B4-BE49-F238E27FC236}">
                <a16:creationId xmlns:a16="http://schemas.microsoft.com/office/drawing/2014/main" id="{AFA678A3-5D46-578C-FD30-FC176027D7DA}"/>
              </a:ext>
            </a:extLst>
          </p:cNvPr>
          <p:cNvPicPr>
            <a:picLocks noChangeAspect="1"/>
          </p:cNvPicPr>
          <p:nvPr/>
        </p:nvPicPr>
        <p:blipFill>
          <a:blip r:embed="rId3"/>
          <a:stretch>
            <a:fillRect/>
          </a:stretch>
        </p:blipFill>
        <p:spPr>
          <a:xfrm>
            <a:off x="467372" y="1047206"/>
            <a:ext cx="3335009" cy="557212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0"/>
            <a:ext cx="12188952" cy="1051560"/>
          </a:xfrm>
          <a:prstGeom prst="rect">
            <a:avLst/>
          </a:prstGeom>
          <a:solidFill>
            <a:srgbClr val="1B27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1000760"/>
            <a:ext cx="12188952" cy="50800"/>
          </a:xfrm>
          <a:prstGeom prst="rect">
            <a:avLst/>
          </a:prstGeom>
          <a:solidFill>
            <a:srgbClr val="008B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65760" y="73152"/>
            <a:ext cx="11430000" cy="594360"/>
          </a:xfrm>
          <a:prstGeom prst="rect">
            <a:avLst/>
          </a:prstGeom>
          <a:noFill/>
        </p:spPr>
        <p:txBody>
          <a:bodyPr wrap="square">
            <a:spAutoFit/>
          </a:bodyPr>
          <a:lstStyle/>
          <a:p>
            <a:pPr algn="l"/>
            <a:r>
              <a:rPr sz="3000" b="1" i="0">
                <a:solidFill>
                  <a:srgbClr val="FFFFFF"/>
                </a:solidFill>
                <a:latin typeface="Calibri"/>
              </a:rPr>
              <a:t>IRS Technique Coverage</a:t>
            </a:r>
          </a:p>
        </p:txBody>
      </p:sp>
      <p:sp>
        <p:nvSpPr>
          <p:cNvPr id="6" name="TextBox 5"/>
          <p:cNvSpPr txBox="1"/>
          <p:nvPr/>
        </p:nvSpPr>
        <p:spPr>
          <a:xfrm>
            <a:off x="365760" y="658368"/>
            <a:ext cx="11430000" cy="347472"/>
          </a:xfrm>
          <a:prstGeom prst="rect">
            <a:avLst/>
          </a:prstGeom>
          <a:noFill/>
        </p:spPr>
        <p:txBody>
          <a:bodyPr wrap="square" lIns="91440" tIns="45720" rIns="91440" bIns="45720" anchor="t">
            <a:spAutoFit/>
          </a:bodyPr>
          <a:lstStyle/>
          <a:p>
            <a:r>
              <a:rPr sz="1500" i="1">
                <a:solidFill>
                  <a:schemeClr val="bg1"/>
                </a:solidFill>
                <a:latin typeface="Calibri"/>
              </a:rPr>
              <a:t>All 4 IRS Technique Groups Covered</a:t>
            </a:r>
          </a:p>
        </p:txBody>
      </p:sp>
      <p:sp>
        <p:nvSpPr>
          <p:cNvPr id="7" name="Rectangle 6"/>
          <p:cNvSpPr/>
          <p:nvPr/>
        </p:nvSpPr>
        <p:spPr>
          <a:xfrm>
            <a:off x="0" y="6693408"/>
            <a:ext cx="12188952" cy="164592"/>
          </a:xfrm>
          <a:prstGeom prst="rect">
            <a:avLst/>
          </a:prstGeom>
          <a:solidFill>
            <a:srgbClr val="1B27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8" name="Table 7"/>
          <p:cNvGraphicFramePr>
            <a:graphicFrameLocks noGrp="1"/>
          </p:cNvGraphicFramePr>
          <p:nvPr>
            <p:extLst>
              <p:ext uri="{D42A27DB-BD31-4B8C-83A1-F6EECF244321}">
                <p14:modId xmlns:p14="http://schemas.microsoft.com/office/powerpoint/2010/main" val="2336142613"/>
              </p:ext>
            </p:extLst>
          </p:nvPr>
        </p:nvGraphicFramePr>
        <p:xfrm>
          <a:off x="365760" y="1188720"/>
          <a:ext cx="11430000" cy="2921000"/>
        </p:xfrm>
        <a:graphic>
          <a:graphicData uri="http://schemas.openxmlformats.org/drawingml/2006/table">
            <a:tbl>
              <a:tblPr firstRow="1" bandRow="1">
                <a:tableStyleId>{5C22544A-7EE6-4342-B048-85BDC9FD1C3A}</a:tableStyleId>
              </a:tblPr>
              <a:tblGrid>
                <a:gridCol w="2857500">
                  <a:extLst>
                    <a:ext uri="{9D8B030D-6E8A-4147-A177-3AD203B41FA5}">
                      <a16:colId xmlns:a16="http://schemas.microsoft.com/office/drawing/2014/main" val="20000"/>
                    </a:ext>
                  </a:extLst>
                </a:gridCol>
                <a:gridCol w="2857500">
                  <a:extLst>
                    <a:ext uri="{9D8B030D-6E8A-4147-A177-3AD203B41FA5}">
                      <a16:colId xmlns:a16="http://schemas.microsoft.com/office/drawing/2014/main" val="20001"/>
                    </a:ext>
                  </a:extLst>
                </a:gridCol>
                <a:gridCol w="2857500">
                  <a:extLst>
                    <a:ext uri="{9D8B030D-6E8A-4147-A177-3AD203B41FA5}">
                      <a16:colId xmlns:a16="http://schemas.microsoft.com/office/drawing/2014/main" val="20002"/>
                    </a:ext>
                  </a:extLst>
                </a:gridCol>
                <a:gridCol w="2857500">
                  <a:extLst>
                    <a:ext uri="{9D8B030D-6E8A-4147-A177-3AD203B41FA5}">
                      <a16:colId xmlns:a16="http://schemas.microsoft.com/office/drawing/2014/main" val="20003"/>
                    </a:ext>
                  </a:extLst>
                </a:gridCol>
              </a:tblGrid>
              <a:tr h="375920">
                <a:tc>
                  <a:txBody>
                    <a:bodyPr/>
                    <a:lstStyle/>
                    <a:p>
                      <a:pPr algn="l"/>
                      <a:r>
                        <a:rPr sz="1300" b="1">
                          <a:solidFill>
                            <a:srgbClr val="FFFFFF"/>
                          </a:solidFill>
                          <a:latin typeface="Calibri"/>
                        </a:rPr>
                        <a:t>#</a:t>
                      </a:r>
                    </a:p>
                  </a:txBody>
                  <a:tcPr>
                    <a:solidFill>
                      <a:srgbClr val="1B275E"/>
                    </a:solidFill>
                  </a:tcPr>
                </a:tc>
                <a:tc>
                  <a:txBody>
                    <a:bodyPr/>
                    <a:lstStyle/>
                    <a:p>
                      <a:pPr algn="l"/>
                      <a:r>
                        <a:rPr sz="1300" b="1">
                          <a:solidFill>
                            <a:srgbClr val="FFFFFF"/>
                          </a:solidFill>
                          <a:latin typeface="Calibri"/>
                        </a:rPr>
                        <a:t>Technique Group</a:t>
                      </a:r>
                    </a:p>
                  </a:txBody>
                  <a:tcPr>
                    <a:solidFill>
                      <a:srgbClr val="1B275E"/>
                    </a:solidFill>
                  </a:tcPr>
                </a:tc>
                <a:tc>
                  <a:txBody>
                    <a:bodyPr/>
                    <a:lstStyle/>
                    <a:p>
                      <a:pPr algn="l"/>
                      <a:r>
                        <a:rPr sz="1300" b="1">
                          <a:solidFill>
                            <a:srgbClr val="FFFFFF"/>
                          </a:solidFill>
                          <a:latin typeface="Calibri"/>
                        </a:rPr>
                        <a:t>Implementation</a:t>
                      </a:r>
                    </a:p>
                  </a:txBody>
                  <a:tcPr>
                    <a:solidFill>
                      <a:srgbClr val="1B275E"/>
                    </a:solidFill>
                  </a:tcPr>
                </a:tc>
                <a:tc>
                  <a:txBody>
                    <a:bodyPr/>
                    <a:lstStyle/>
                    <a:p>
                      <a:pPr algn="l"/>
                      <a:r>
                        <a:rPr sz="1300" b="1">
                          <a:solidFill>
                            <a:srgbClr val="FFFFFF"/>
                          </a:solidFill>
                          <a:latin typeface="Calibri"/>
                        </a:rPr>
                        <a:t>Agent</a:t>
                      </a:r>
                    </a:p>
                  </a:txBody>
                  <a:tcPr>
                    <a:solidFill>
                      <a:srgbClr val="1B275E"/>
                    </a:solidFill>
                  </a:tcPr>
                </a:tc>
                <a:extLst>
                  <a:ext uri="{0D108BD9-81ED-4DB2-BD59-A6C34878D82A}">
                    <a16:rowId xmlns:a16="http://schemas.microsoft.com/office/drawing/2014/main" val="10000"/>
                  </a:ext>
                </a:extLst>
              </a:tr>
              <a:tr h="375920">
                <a:tc>
                  <a:txBody>
                    <a:bodyPr/>
                    <a:lstStyle/>
                    <a:p>
                      <a:pPr algn="l"/>
                      <a:r>
                        <a:rPr sz="1300">
                          <a:solidFill>
                            <a:srgbClr val="444455"/>
                          </a:solidFill>
                          <a:latin typeface="Calibri"/>
                        </a:rPr>
                        <a:t>①</a:t>
                      </a:r>
                    </a:p>
                  </a:txBody>
                  <a:tcPr>
                    <a:solidFill>
                      <a:srgbClr val="E8F4FB"/>
                    </a:solidFill>
                  </a:tcPr>
                </a:tc>
                <a:tc>
                  <a:txBody>
                    <a:bodyPr/>
                    <a:lstStyle/>
                    <a:p>
                      <a:pPr algn="l"/>
                      <a:r>
                        <a:rPr sz="1300">
                          <a:solidFill>
                            <a:srgbClr val="444455"/>
                          </a:solidFill>
                          <a:latin typeface="Calibri"/>
                        </a:rPr>
                        <a:t>Decision Automation</a:t>
                      </a:r>
                    </a:p>
                  </a:txBody>
                  <a:tcPr>
                    <a:solidFill>
                      <a:srgbClr val="E8F4FB"/>
                    </a:solidFill>
                  </a:tcPr>
                </a:tc>
                <a:tc>
                  <a:txBody>
                    <a:bodyPr/>
                    <a:lstStyle/>
                    <a:p>
                      <a:pPr algn="l"/>
                      <a:r>
                        <a:rPr sz="1300">
                          <a:solidFill>
                            <a:srgbClr val="444455"/>
                          </a:solidFill>
                          <a:latin typeface="Calibri"/>
                        </a:rPr>
                        <a:t>Custom C++ PDDL A* Planner — state-space search with typed preconditions/effects</a:t>
                      </a:r>
                    </a:p>
                  </a:txBody>
                  <a:tcPr>
                    <a:solidFill>
                      <a:srgbClr val="E8F4FB"/>
                    </a:solidFill>
                  </a:tcPr>
                </a:tc>
                <a:tc>
                  <a:txBody>
                    <a:bodyPr/>
                    <a:lstStyle/>
                    <a:p>
                      <a:pPr algn="l"/>
                      <a:r>
                        <a:rPr sz="1300">
                          <a:solidFill>
                            <a:srgbClr val="444455"/>
                          </a:solidFill>
                          <a:latin typeface="Calibri"/>
                        </a:rPr>
                        <a:t>Agent 2 ★</a:t>
                      </a:r>
                    </a:p>
                  </a:txBody>
                  <a:tcPr>
                    <a:solidFill>
                      <a:srgbClr val="E8F4FB"/>
                    </a:solidFill>
                  </a:tcPr>
                </a:tc>
                <a:extLst>
                  <a:ext uri="{0D108BD9-81ED-4DB2-BD59-A6C34878D82A}">
                    <a16:rowId xmlns:a16="http://schemas.microsoft.com/office/drawing/2014/main" val="10001"/>
                  </a:ext>
                </a:extLst>
              </a:tr>
              <a:tr h="375920">
                <a:tc>
                  <a:txBody>
                    <a:bodyPr/>
                    <a:lstStyle/>
                    <a:p>
                      <a:pPr algn="l"/>
                      <a:r>
                        <a:rPr sz="1300">
                          <a:solidFill>
                            <a:srgbClr val="444455"/>
                          </a:solidFill>
                          <a:latin typeface="Calibri"/>
                        </a:rPr>
                        <a:t>②</a:t>
                      </a:r>
                    </a:p>
                  </a:txBody>
                  <a:tcPr>
                    <a:solidFill>
                      <a:srgbClr val="F0F4F8"/>
                    </a:solidFill>
                  </a:tcPr>
                </a:tc>
                <a:tc>
                  <a:txBody>
                    <a:bodyPr/>
                    <a:lstStyle/>
                    <a:p>
                      <a:pPr algn="l"/>
                      <a:r>
                        <a:rPr sz="1300" dirty="0">
                          <a:solidFill>
                            <a:srgbClr val="444455"/>
                          </a:solidFill>
                          <a:latin typeface="Calibri"/>
                        </a:rPr>
                        <a:t>Resource </a:t>
                      </a:r>
                      <a:r>
                        <a:rPr lang="en-US" sz="1300">
                          <a:solidFill>
                            <a:srgbClr val="444455"/>
                          </a:solidFill>
                          <a:latin typeface="Calibri"/>
                        </a:rPr>
                        <a:t>Optimization</a:t>
                      </a:r>
                      <a:endParaRPr sz="1300" dirty="0">
                        <a:solidFill>
                          <a:srgbClr val="444455"/>
                        </a:solidFill>
                        <a:latin typeface="Calibri"/>
                      </a:endParaRPr>
                    </a:p>
                  </a:txBody>
                  <a:tcPr>
                    <a:solidFill>
                      <a:srgbClr val="F0F4F8"/>
                    </a:solidFill>
                  </a:tcPr>
                </a:tc>
                <a:tc>
                  <a:txBody>
                    <a:bodyPr/>
                    <a:lstStyle/>
                    <a:p>
                      <a:pPr algn="l"/>
                      <a:r>
                        <a:rPr sz="1300" dirty="0">
                          <a:solidFill>
                            <a:srgbClr val="444455"/>
                          </a:solidFill>
                          <a:latin typeface="Calibri"/>
                        </a:rPr>
                        <a:t>Genetic Algorithm plan ranker — </a:t>
                      </a:r>
                      <a:r>
                        <a:rPr sz="1300" dirty="0" err="1">
                          <a:solidFill>
                            <a:srgbClr val="444455"/>
                          </a:solidFill>
                          <a:latin typeface="Calibri"/>
                        </a:rPr>
                        <a:t>minimises</a:t>
                      </a:r>
                      <a:r>
                        <a:rPr sz="1300" dirty="0">
                          <a:solidFill>
                            <a:srgbClr val="444455"/>
                          </a:solidFill>
                          <a:latin typeface="Calibri"/>
                        </a:rPr>
                        <a:t> </a:t>
                      </a:r>
                      <a:r>
                        <a:rPr sz="1300" dirty="0" err="1">
                          <a:solidFill>
                            <a:srgbClr val="444455"/>
                          </a:solidFill>
                          <a:latin typeface="Courier New"/>
                          <a:cs typeface="Courier New"/>
                        </a:rPr>
                        <a:t>steps×w</a:t>
                      </a:r>
                      <a:r>
                        <a:rPr sz="1300" dirty="0">
                          <a:solidFill>
                            <a:srgbClr val="444455"/>
                          </a:solidFill>
                          <a:latin typeface="Courier New"/>
                          <a:cs typeface="Courier New"/>
                        </a:rPr>
                        <a:t>₁ + </a:t>
                      </a:r>
                      <a:r>
                        <a:rPr sz="1300" dirty="0" err="1">
                          <a:solidFill>
                            <a:srgbClr val="444455"/>
                          </a:solidFill>
                          <a:latin typeface="Courier New"/>
                          <a:cs typeface="Courier New"/>
                        </a:rPr>
                        <a:t>time×w</a:t>
                      </a:r>
                      <a:r>
                        <a:rPr sz="1300" dirty="0">
                          <a:solidFill>
                            <a:srgbClr val="444455"/>
                          </a:solidFill>
                          <a:latin typeface="Courier New"/>
                          <a:cs typeface="Courier New"/>
                        </a:rPr>
                        <a:t>₂ + </a:t>
                      </a:r>
                      <a:r>
                        <a:rPr sz="1300" dirty="0" err="1">
                          <a:solidFill>
                            <a:srgbClr val="444455"/>
                          </a:solidFill>
                          <a:latin typeface="Courier New"/>
                          <a:cs typeface="Courier New"/>
                        </a:rPr>
                        <a:t>collision_risk×w</a:t>
                      </a:r>
                      <a:r>
                        <a:rPr sz="1300" dirty="0">
                          <a:solidFill>
                            <a:srgbClr val="444455"/>
                          </a:solidFill>
                          <a:latin typeface="Courier New"/>
                          <a:cs typeface="Courier New"/>
                        </a:rPr>
                        <a:t>₃</a:t>
                      </a:r>
                      <a:endParaRPr sz="1300" dirty="0">
                        <a:solidFill>
                          <a:srgbClr val="444455"/>
                        </a:solidFill>
                        <a:latin typeface="Calibri"/>
                      </a:endParaRPr>
                    </a:p>
                  </a:txBody>
                  <a:tcPr>
                    <a:solidFill>
                      <a:srgbClr val="F0F4F8"/>
                    </a:solidFill>
                  </a:tcPr>
                </a:tc>
                <a:tc>
                  <a:txBody>
                    <a:bodyPr/>
                    <a:lstStyle/>
                    <a:p>
                      <a:pPr algn="l"/>
                      <a:r>
                        <a:rPr sz="1300">
                          <a:solidFill>
                            <a:srgbClr val="444455"/>
                          </a:solidFill>
                          <a:latin typeface="Calibri"/>
                        </a:rPr>
                        <a:t>Agent 2 ★</a:t>
                      </a:r>
                    </a:p>
                  </a:txBody>
                  <a:tcPr>
                    <a:solidFill>
                      <a:srgbClr val="F0F4F8"/>
                    </a:solidFill>
                  </a:tcPr>
                </a:tc>
                <a:extLst>
                  <a:ext uri="{0D108BD9-81ED-4DB2-BD59-A6C34878D82A}">
                    <a16:rowId xmlns:a16="http://schemas.microsoft.com/office/drawing/2014/main" val="10002"/>
                  </a:ext>
                </a:extLst>
              </a:tr>
              <a:tr h="375920">
                <a:tc>
                  <a:txBody>
                    <a:bodyPr/>
                    <a:lstStyle/>
                    <a:p>
                      <a:pPr algn="l"/>
                      <a:r>
                        <a:rPr sz="1300">
                          <a:solidFill>
                            <a:srgbClr val="444455"/>
                          </a:solidFill>
                          <a:latin typeface="Calibri"/>
                        </a:rPr>
                        <a:t>③</a:t>
                      </a:r>
                    </a:p>
                  </a:txBody>
                  <a:tcPr>
                    <a:solidFill>
                      <a:srgbClr val="E8F4FB"/>
                    </a:solidFill>
                  </a:tcPr>
                </a:tc>
                <a:tc>
                  <a:txBody>
                    <a:bodyPr/>
                    <a:lstStyle/>
                    <a:p>
                      <a:pPr algn="l"/>
                      <a:r>
                        <a:rPr sz="1300">
                          <a:solidFill>
                            <a:srgbClr val="444455"/>
                          </a:solidFill>
                          <a:latin typeface="Calibri"/>
                        </a:rPr>
                        <a:t>Knowledge Discovery</a:t>
                      </a:r>
                    </a:p>
                  </a:txBody>
                  <a:tcPr>
                    <a:solidFill>
                      <a:srgbClr val="E8F4FB"/>
                    </a:solidFill>
                  </a:tcPr>
                </a:tc>
                <a:tc>
                  <a:txBody>
                    <a:bodyPr/>
                    <a:lstStyle/>
                    <a:p>
                      <a:pPr algn="l"/>
                      <a:r>
                        <a:rPr sz="1300" dirty="0" err="1">
                          <a:solidFill>
                            <a:srgbClr val="444455"/>
                          </a:solidFill>
                          <a:latin typeface="Calibri"/>
                        </a:rPr>
                        <a:t>FoundationPose</a:t>
                      </a:r>
                      <a:r>
                        <a:rPr sz="1300" dirty="0">
                          <a:solidFill>
                            <a:srgbClr val="444455"/>
                          </a:solidFill>
                          <a:latin typeface="Calibri"/>
                        </a:rPr>
                        <a:t> 6-DoF pose estimator + </a:t>
                      </a:r>
                      <a:r>
                        <a:rPr sz="1300" dirty="0" err="1">
                          <a:solidFill>
                            <a:srgbClr val="444455"/>
                          </a:solidFill>
                          <a:latin typeface="Calibri"/>
                        </a:rPr>
                        <a:t>nvblox</a:t>
                      </a:r>
                      <a:r>
                        <a:rPr sz="1300" dirty="0">
                          <a:solidFill>
                            <a:srgbClr val="444455"/>
                          </a:solidFill>
                          <a:latin typeface="Calibri"/>
                        </a:rPr>
                        <a:t> SDF scene map</a:t>
                      </a:r>
                    </a:p>
                  </a:txBody>
                  <a:tcPr>
                    <a:solidFill>
                      <a:srgbClr val="E8F4FB"/>
                    </a:solidFill>
                  </a:tcPr>
                </a:tc>
                <a:tc>
                  <a:txBody>
                    <a:bodyPr/>
                    <a:lstStyle/>
                    <a:p>
                      <a:pPr algn="l"/>
                      <a:r>
                        <a:rPr sz="1300">
                          <a:solidFill>
                            <a:srgbClr val="444455"/>
                          </a:solidFill>
                          <a:latin typeface="Calibri"/>
                        </a:rPr>
                        <a:t>Agent 3</a:t>
                      </a:r>
                    </a:p>
                  </a:txBody>
                  <a:tcPr>
                    <a:solidFill>
                      <a:srgbClr val="E8F4FB"/>
                    </a:solidFill>
                  </a:tcPr>
                </a:tc>
                <a:extLst>
                  <a:ext uri="{0D108BD9-81ED-4DB2-BD59-A6C34878D82A}">
                    <a16:rowId xmlns:a16="http://schemas.microsoft.com/office/drawing/2014/main" val="10003"/>
                  </a:ext>
                </a:extLst>
              </a:tr>
              <a:tr h="375920">
                <a:tc>
                  <a:txBody>
                    <a:bodyPr/>
                    <a:lstStyle/>
                    <a:p>
                      <a:pPr algn="l"/>
                      <a:r>
                        <a:rPr sz="1300">
                          <a:solidFill>
                            <a:srgbClr val="444455"/>
                          </a:solidFill>
                          <a:latin typeface="Calibri"/>
                        </a:rPr>
                        <a:t>④</a:t>
                      </a:r>
                    </a:p>
                  </a:txBody>
                  <a:tcPr>
                    <a:solidFill>
                      <a:srgbClr val="F0F4F8"/>
                    </a:solidFill>
                  </a:tcPr>
                </a:tc>
                <a:tc>
                  <a:txBody>
                    <a:bodyPr/>
                    <a:lstStyle/>
                    <a:p>
                      <a:pPr algn="l"/>
                      <a:r>
                        <a:rPr sz="1300">
                          <a:solidFill>
                            <a:srgbClr val="444455"/>
                          </a:solidFill>
                          <a:latin typeface="Calibri"/>
                        </a:rPr>
                        <a:t>Cognitive Systems</a:t>
                      </a:r>
                    </a:p>
                  </a:txBody>
                  <a:tcPr>
                    <a:solidFill>
                      <a:srgbClr val="F0F4F8"/>
                    </a:solidFill>
                  </a:tcPr>
                </a:tc>
                <a:tc>
                  <a:txBody>
                    <a:bodyPr/>
                    <a:lstStyle/>
                    <a:p>
                      <a:pPr algn="l"/>
                      <a:r>
                        <a:rPr sz="1300" dirty="0">
                          <a:solidFill>
                            <a:srgbClr val="444455"/>
                          </a:solidFill>
                          <a:latin typeface="Calibri"/>
                        </a:rPr>
                        <a:t>LLaMA-3:8b (local) NL→PDDL + </a:t>
                      </a:r>
                      <a:r>
                        <a:rPr sz="1300" dirty="0" err="1">
                          <a:solidFill>
                            <a:srgbClr val="444455"/>
                          </a:solidFill>
                          <a:latin typeface="Calibri"/>
                        </a:rPr>
                        <a:t>NetworkX</a:t>
                      </a:r>
                      <a:r>
                        <a:rPr sz="1300" dirty="0">
                          <a:solidFill>
                            <a:srgbClr val="444455"/>
                          </a:solidFill>
                          <a:latin typeface="Calibri"/>
                        </a:rPr>
                        <a:t> knowledge graph (affordances, relations)</a:t>
                      </a:r>
                    </a:p>
                  </a:txBody>
                  <a:tcPr>
                    <a:solidFill>
                      <a:srgbClr val="F0F4F8"/>
                    </a:solidFill>
                  </a:tcPr>
                </a:tc>
                <a:tc>
                  <a:txBody>
                    <a:bodyPr/>
                    <a:lstStyle/>
                    <a:p>
                      <a:pPr algn="l"/>
                      <a:r>
                        <a:rPr sz="1300">
                          <a:solidFill>
                            <a:srgbClr val="444455"/>
                          </a:solidFill>
                          <a:latin typeface="Calibri"/>
                        </a:rPr>
                        <a:t>Agent 1</a:t>
                      </a:r>
                    </a:p>
                  </a:txBody>
                  <a:tcPr>
                    <a:solidFill>
                      <a:srgbClr val="F0F4F8"/>
                    </a:solidFill>
                  </a:tcPr>
                </a:tc>
                <a:extLst>
                  <a:ext uri="{0D108BD9-81ED-4DB2-BD59-A6C34878D82A}">
                    <a16:rowId xmlns:a16="http://schemas.microsoft.com/office/drawing/2014/main" val="10004"/>
                  </a:ext>
                </a:extLst>
              </a:tr>
            </a:tbl>
          </a:graphicData>
        </a:graphic>
      </p:graphicFrame>
      <p:sp>
        <p:nvSpPr>
          <p:cNvPr id="9" name="Rectangle 8"/>
          <p:cNvSpPr/>
          <p:nvPr/>
        </p:nvSpPr>
        <p:spPr>
          <a:xfrm>
            <a:off x="326873" y="4473941"/>
            <a:ext cx="11430000" cy="508000"/>
          </a:xfrm>
          <a:prstGeom prst="rect">
            <a:avLst/>
          </a:prstGeom>
          <a:solidFill>
            <a:srgbClr val="1B27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28473" y="4512041"/>
            <a:ext cx="11226800" cy="431800"/>
          </a:xfrm>
          <a:prstGeom prst="rect">
            <a:avLst/>
          </a:prstGeom>
          <a:noFill/>
        </p:spPr>
        <p:txBody>
          <a:bodyPr wrap="square">
            <a:spAutoFit/>
          </a:bodyPr>
          <a:lstStyle/>
          <a:p>
            <a:pPr algn="l"/>
            <a:r>
              <a:rPr sz="1300" b="0" i="1">
                <a:solidFill>
                  <a:srgbClr val="FFB300"/>
                </a:solidFill>
                <a:latin typeface="Calibri"/>
              </a:rPr>
              <a:t>★ Agent 2 (C++ Planner) is the primary technical contribution — built from first principles, no external planner binary.</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0"/>
            <a:ext cx="12188952" cy="1051560"/>
          </a:xfrm>
          <a:prstGeom prst="rect">
            <a:avLst/>
          </a:prstGeom>
          <a:solidFill>
            <a:srgbClr val="1B27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1000760"/>
            <a:ext cx="12188952" cy="50800"/>
          </a:xfrm>
          <a:prstGeom prst="rect">
            <a:avLst/>
          </a:prstGeom>
          <a:solidFill>
            <a:srgbClr val="008B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65760" y="73152"/>
            <a:ext cx="11430000" cy="594360"/>
          </a:xfrm>
          <a:prstGeom prst="rect">
            <a:avLst/>
          </a:prstGeom>
          <a:noFill/>
        </p:spPr>
        <p:txBody>
          <a:bodyPr wrap="square">
            <a:spAutoFit/>
          </a:bodyPr>
          <a:lstStyle/>
          <a:p>
            <a:pPr algn="l"/>
            <a:r>
              <a:rPr sz="3000" b="1" i="0">
                <a:solidFill>
                  <a:srgbClr val="FFFFFF"/>
                </a:solidFill>
                <a:latin typeface="Calibri"/>
              </a:rPr>
              <a:t>System Architecture</a:t>
            </a:r>
          </a:p>
        </p:txBody>
      </p:sp>
      <p:sp>
        <p:nvSpPr>
          <p:cNvPr id="6" name="TextBox 5"/>
          <p:cNvSpPr txBox="1"/>
          <p:nvPr/>
        </p:nvSpPr>
        <p:spPr>
          <a:xfrm>
            <a:off x="365760" y="658368"/>
            <a:ext cx="11430000" cy="347472"/>
          </a:xfrm>
          <a:prstGeom prst="rect">
            <a:avLst/>
          </a:prstGeom>
          <a:noFill/>
        </p:spPr>
        <p:txBody>
          <a:bodyPr wrap="square" lIns="91440" tIns="45720" rIns="91440" bIns="45720" anchor="t">
            <a:spAutoFit/>
          </a:bodyPr>
          <a:lstStyle/>
          <a:p>
            <a:r>
              <a:rPr sz="1500" i="1">
                <a:solidFill>
                  <a:schemeClr val="bg1"/>
                </a:solidFill>
                <a:latin typeface="Calibri"/>
              </a:rPr>
              <a:t>5-Agent Pipeline</a:t>
            </a:r>
          </a:p>
        </p:txBody>
      </p:sp>
      <p:sp>
        <p:nvSpPr>
          <p:cNvPr id="7" name="Rectangle 6"/>
          <p:cNvSpPr/>
          <p:nvPr/>
        </p:nvSpPr>
        <p:spPr>
          <a:xfrm>
            <a:off x="0" y="6693408"/>
            <a:ext cx="12188952" cy="164592"/>
          </a:xfrm>
          <a:prstGeom prst="rect">
            <a:avLst/>
          </a:prstGeom>
          <a:solidFill>
            <a:srgbClr val="1B27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5303520" y="1188720"/>
            <a:ext cx="6492240" cy="330200"/>
          </a:xfrm>
          <a:prstGeom prst="rect">
            <a:avLst/>
          </a:prstGeom>
          <a:noFill/>
        </p:spPr>
        <p:txBody>
          <a:bodyPr wrap="square">
            <a:spAutoFit/>
          </a:bodyPr>
          <a:lstStyle/>
          <a:p>
            <a:pPr algn="l"/>
            <a:r>
              <a:rPr sz="1500" b="1" i="0">
                <a:solidFill>
                  <a:srgbClr val="1B275E"/>
                </a:solidFill>
                <a:latin typeface="Calibri"/>
              </a:rPr>
              <a:t>Integration bus: ROS2 topics + FastAPI REST</a:t>
            </a:r>
          </a:p>
        </p:txBody>
      </p:sp>
      <p:sp>
        <p:nvSpPr>
          <p:cNvPr id="24" name="TextBox 23"/>
          <p:cNvSpPr txBox="1"/>
          <p:nvPr/>
        </p:nvSpPr>
        <p:spPr>
          <a:xfrm>
            <a:off x="5303520" y="1544320"/>
            <a:ext cx="6492240" cy="330200"/>
          </a:xfrm>
          <a:prstGeom prst="rect">
            <a:avLst/>
          </a:prstGeom>
          <a:noFill/>
        </p:spPr>
        <p:txBody>
          <a:bodyPr wrap="square">
            <a:spAutoFit/>
          </a:bodyPr>
          <a:lstStyle/>
          <a:p>
            <a:pPr algn="l"/>
            <a:r>
              <a:rPr sz="1500" b="1" i="0">
                <a:solidFill>
                  <a:srgbClr val="1B275E"/>
                </a:solidFill>
                <a:latin typeface="Calibri"/>
              </a:rPr>
              <a:t>Web UI: React + Three.js 3D viewer + D3.js plan timeline</a:t>
            </a:r>
          </a:p>
        </p:txBody>
      </p:sp>
      <p:pic>
        <p:nvPicPr>
          <p:cNvPr id="27" name="Picture 26" descr="A diagram of a business process&#10;&#10;AI-generated content may be incorrect.">
            <a:extLst>
              <a:ext uri="{FF2B5EF4-FFF2-40B4-BE49-F238E27FC236}">
                <a16:creationId xmlns:a16="http://schemas.microsoft.com/office/drawing/2014/main" id="{9E8AAD90-11EB-70AA-DE9D-9C017A6D1549}"/>
              </a:ext>
            </a:extLst>
          </p:cNvPr>
          <p:cNvPicPr>
            <a:picLocks noChangeAspect="1"/>
          </p:cNvPicPr>
          <p:nvPr/>
        </p:nvPicPr>
        <p:blipFill>
          <a:blip r:embed="rId3"/>
          <a:stretch>
            <a:fillRect/>
          </a:stretch>
        </p:blipFill>
        <p:spPr>
          <a:xfrm>
            <a:off x="2510907" y="1049693"/>
            <a:ext cx="2428929" cy="5808307"/>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0"/>
            <a:ext cx="12188952" cy="1051560"/>
          </a:xfrm>
          <a:prstGeom prst="rect">
            <a:avLst/>
          </a:prstGeom>
          <a:solidFill>
            <a:srgbClr val="1B27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1000760"/>
            <a:ext cx="12188952" cy="50800"/>
          </a:xfrm>
          <a:prstGeom prst="rect">
            <a:avLst/>
          </a:prstGeom>
          <a:solidFill>
            <a:srgbClr val="008B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65760" y="73152"/>
            <a:ext cx="11430000" cy="594360"/>
          </a:xfrm>
          <a:prstGeom prst="rect">
            <a:avLst/>
          </a:prstGeom>
          <a:noFill/>
        </p:spPr>
        <p:txBody>
          <a:bodyPr wrap="square">
            <a:spAutoFit/>
          </a:bodyPr>
          <a:lstStyle/>
          <a:p>
            <a:pPr algn="l"/>
            <a:r>
              <a:rPr sz="3000" b="1" i="0">
                <a:solidFill>
                  <a:srgbClr val="FFFFFF"/>
                </a:solidFill>
                <a:latin typeface="Calibri"/>
              </a:rPr>
              <a:t>Agent 1: NL Interface</a:t>
            </a:r>
          </a:p>
        </p:txBody>
      </p:sp>
      <p:sp>
        <p:nvSpPr>
          <p:cNvPr id="6" name="TextBox 5"/>
          <p:cNvSpPr txBox="1"/>
          <p:nvPr/>
        </p:nvSpPr>
        <p:spPr>
          <a:xfrm>
            <a:off x="365760" y="658368"/>
            <a:ext cx="11430000" cy="347472"/>
          </a:xfrm>
          <a:prstGeom prst="rect">
            <a:avLst/>
          </a:prstGeom>
          <a:noFill/>
        </p:spPr>
        <p:txBody>
          <a:bodyPr wrap="square" lIns="91440" tIns="45720" rIns="91440" bIns="45720" anchor="t">
            <a:spAutoFit/>
          </a:bodyPr>
          <a:lstStyle/>
          <a:p>
            <a:r>
              <a:rPr sz="1500" i="1">
                <a:solidFill>
                  <a:schemeClr val="bg1"/>
                </a:solidFill>
                <a:latin typeface="Calibri"/>
              </a:rPr>
              <a:t>Natural Language → Formal PDDL</a:t>
            </a:r>
          </a:p>
        </p:txBody>
      </p:sp>
      <p:sp>
        <p:nvSpPr>
          <p:cNvPr id="7" name="Rectangle 6"/>
          <p:cNvSpPr/>
          <p:nvPr/>
        </p:nvSpPr>
        <p:spPr>
          <a:xfrm>
            <a:off x="0" y="6693408"/>
            <a:ext cx="12188952" cy="164592"/>
          </a:xfrm>
          <a:prstGeom prst="rect">
            <a:avLst/>
          </a:prstGeom>
          <a:solidFill>
            <a:srgbClr val="1B27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65760" y="1188720"/>
            <a:ext cx="11430000" cy="330200"/>
          </a:xfrm>
          <a:prstGeom prst="rect">
            <a:avLst/>
          </a:prstGeom>
          <a:noFill/>
        </p:spPr>
        <p:txBody>
          <a:bodyPr wrap="square">
            <a:spAutoFit/>
          </a:bodyPr>
          <a:lstStyle/>
          <a:p>
            <a:pPr algn="l"/>
            <a:r>
              <a:rPr sz="1500" b="1" i="0">
                <a:solidFill>
                  <a:srgbClr val="1B275E"/>
                </a:solidFill>
                <a:latin typeface="Calibri"/>
              </a:rPr>
              <a:t>Components:</a:t>
            </a:r>
          </a:p>
        </p:txBody>
      </p:sp>
      <p:sp>
        <p:nvSpPr>
          <p:cNvPr id="9" name="TextBox 8"/>
          <p:cNvSpPr txBox="1"/>
          <p:nvPr/>
        </p:nvSpPr>
        <p:spPr>
          <a:xfrm>
            <a:off x="365760" y="1544320"/>
            <a:ext cx="11430000" cy="962025"/>
          </a:xfrm>
          <a:prstGeom prst="rect">
            <a:avLst/>
          </a:prstGeom>
          <a:noFill/>
        </p:spPr>
        <p:txBody>
          <a:bodyPr wrap="square">
            <a:spAutoFit/>
          </a:bodyPr>
          <a:lstStyle/>
          <a:p>
            <a:r>
              <a:rPr sz="1500">
                <a:solidFill>
                  <a:srgbClr val="444455"/>
                </a:solidFill>
                <a:latin typeface="Calibri"/>
              </a:rPr>
              <a:t>• LLaMA-3:8b via Ollama (local, Q4_K_M quantised, ~5–6GB VRAM including KV cache at 4K–8K context)</a:t>
            </a:r>
          </a:p>
          <a:p>
            <a:r>
              <a:rPr sz="1500">
                <a:solidFill>
                  <a:srgbClr val="444455"/>
                </a:solidFill>
                <a:latin typeface="Calibri"/>
              </a:rPr>
              <a:t>• NetworkX knowledge graph — nodes: objects + robot; edges: affordances (graspable, stackable, fragile, too-heavy)</a:t>
            </a:r>
          </a:p>
          <a:p>
            <a:r>
              <a:rPr sz="1500">
                <a:solidFill>
                  <a:srgbClr val="444455"/>
                </a:solidFill>
                <a:latin typeface="Calibri"/>
              </a:rPr>
              <a:t>• PDDL validator layer — catches malformed output; falls back to template generator</a:t>
            </a:r>
          </a:p>
        </p:txBody>
      </p:sp>
      <p:sp>
        <p:nvSpPr>
          <p:cNvPr id="10" name="TextBox 9"/>
          <p:cNvSpPr txBox="1"/>
          <p:nvPr/>
        </p:nvSpPr>
        <p:spPr>
          <a:xfrm>
            <a:off x="365760" y="2557145"/>
            <a:ext cx="11430000" cy="330200"/>
          </a:xfrm>
          <a:prstGeom prst="rect">
            <a:avLst/>
          </a:prstGeom>
          <a:noFill/>
        </p:spPr>
        <p:txBody>
          <a:bodyPr wrap="square">
            <a:spAutoFit/>
          </a:bodyPr>
          <a:lstStyle/>
          <a:p>
            <a:pPr algn="l"/>
            <a:r>
              <a:rPr sz="1500" b="1" i="0">
                <a:solidFill>
                  <a:srgbClr val="1B275E"/>
                </a:solidFill>
                <a:latin typeface="Calibri"/>
              </a:rPr>
              <a:t>Example:</a:t>
            </a:r>
          </a:p>
        </p:txBody>
      </p:sp>
      <p:graphicFrame>
        <p:nvGraphicFramePr>
          <p:cNvPr id="11" name="Table 10"/>
          <p:cNvGraphicFramePr>
            <a:graphicFrameLocks noGrp="1"/>
          </p:cNvGraphicFramePr>
          <p:nvPr>
            <p:extLst>
              <p:ext uri="{D42A27DB-BD31-4B8C-83A1-F6EECF244321}">
                <p14:modId xmlns:p14="http://schemas.microsoft.com/office/powerpoint/2010/main" val="3940399035"/>
              </p:ext>
            </p:extLst>
          </p:nvPr>
        </p:nvGraphicFramePr>
        <p:xfrm>
          <a:off x="365760" y="2912745"/>
          <a:ext cx="11429999" cy="1168400"/>
        </p:xfrm>
        <a:graphic>
          <a:graphicData uri="http://schemas.openxmlformats.org/drawingml/2006/table">
            <a:tbl>
              <a:tblPr firstRow="1" bandRow="1">
                <a:tableStyleId>{5C22544A-7EE6-4342-B048-85BDC9FD1C3A}</a:tableStyleId>
              </a:tblPr>
              <a:tblGrid>
                <a:gridCol w="3723934">
                  <a:extLst>
                    <a:ext uri="{9D8B030D-6E8A-4147-A177-3AD203B41FA5}">
                      <a16:colId xmlns:a16="http://schemas.microsoft.com/office/drawing/2014/main" val="20000"/>
                    </a:ext>
                  </a:extLst>
                </a:gridCol>
                <a:gridCol w="7706065">
                  <a:extLst>
                    <a:ext uri="{9D8B030D-6E8A-4147-A177-3AD203B41FA5}">
                      <a16:colId xmlns:a16="http://schemas.microsoft.com/office/drawing/2014/main" val="20001"/>
                    </a:ext>
                  </a:extLst>
                </a:gridCol>
              </a:tblGrid>
              <a:tr h="389466">
                <a:tc>
                  <a:txBody>
                    <a:bodyPr/>
                    <a:lstStyle/>
                    <a:p>
                      <a:pPr algn="l"/>
                      <a:r>
                        <a:rPr sz="1300" b="1">
                          <a:solidFill>
                            <a:srgbClr val="FFFFFF"/>
                          </a:solidFill>
                          <a:latin typeface="Calibri"/>
                        </a:rPr>
                        <a:t>Input</a:t>
                      </a:r>
                    </a:p>
                  </a:txBody>
                  <a:tcPr>
                    <a:solidFill>
                      <a:srgbClr val="1B275E"/>
                    </a:solidFill>
                  </a:tcPr>
                </a:tc>
                <a:tc>
                  <a:txBody>
                    <a:bodyPr/>
                    <a:lstStyle/>
                    <a:p>
                      <a:pPr algn="l"/>
                      <a:r>
                        <a:rPr sz="1300" b="1">
                          <a:solidFill>
                            <a:srgbClr val="FFFFFF"/>
                          </a:solidFill>
                          <a:latin typeface="Calibri"/>
                        </a:rPr>
                        <a:t>Output</a:t>
                      </a:r>
                    </a:p>
                  </a:txBody>
                  <a:tcPr>
                    <a:solidFill>
                      <a:srgbClr val="1B275E"/>
                    </a:solidFill>
                  </a:tcPr>
                </a:tc>
                <a:extLst>
                  <a:ext uri="{0D108BD9-81ED-4DB2-BD59-A6C34878D82A}">
                    <a16:rowId xmlns:a16="http://schemas.microsoft.com/office/drawing/2014/main" val="10000"/>
                  </a:ext>
                </a:extLst>
              </a:tr>
              <a:tr h="389466">
                <a:tc>
                  <a:txBody>
                    <a:bodyPr/>
                    <a:lstStyle/>
                    <a:p>
                      <a:pPr algn="l"/>
                      <a:r>
                        <a:rPr lang="en-US" sz="1300" dirty="0">
                          <a:solidFill>
                            <a:srgbClr val="444455"/>
                          </a:solidFill>
                          <a:latin typeface="Calibri"/>
                        </a:rPr>
                        <a:t>"</a:t>
                      </a:r>
                      <a:r>
                        <a:rPr sz="1300">
                          <a:solidFill>
                            <a:srgbClr val="444455"/>
                          </a:solidFill>
                          <a:latin typeface="Calibri"/>
                        </a:rPr>
                        <a:t>Stack the red cube on the blue cylinder</a:t>
                      </a:r>
                      <a:r>
                        <a:rPr lang="en-US" sz="1300">
                          <a:solidFill>
                            <a:srgbClr val="444455"/>
                          </a:solidFill>
                          <a:latin typeface="Calibri"/>
                        </a:rPr>
                        <a:t>"</a:t>
                      </a:r>
                      <a:endParaRPr sz="1300">
                        <a:solidFill>
                          <a:srgbClr val="444455"/>
                        </a:solidFill>
                        <a:latin typeface="Calibri"/>
                      </a:endParaRPr>
                    </a:p>
                  </a:txBody>
                  <a:tcPr>
                    <a:solidFill>
                      <a:srgbClr val="E8F4FB"/>
                    </a:solidFill>
                  </a:tcPr>
                </a:tc>
                <a:tc>
                  <a:txBody>
                    <a:bodyPr/>
                    <a:lstStyle/>
                    <a:p>
                      <a:pPr algn="l"/>
                      <a:r>
                        <a:rPr lang="en-US" sz="1300" dirty="0">
                          <a:solidFill>
                            <a:srgbClr val="444455"/>
                          </a:solidFill>
                          <a:latin typeface="Courier New"/>
                          <a:cs typeface="Courier New"/>
                        </a:rPr>
                        <a:t>(:</a:t>
                      </a:r>
                      <a:r>
                        <a:rPr sz="1300">
                          <a:solidFill>
                            <a:srgbClr val="444455"/>
                          </a:solidFill>
                          <a:latin typeface="Courier New"/>
                          <a:cs typeface="Courier New"/>
                        </a:rPr>
                        <a:t>goal (on red-cube blue-cylinder</a:t>
                      </a:r>
                      <a:r>
                        <a:rPr lang="en-US" sz="1300">
                          <a:solidFill>
                            <a:srgbClr val="444455"/>
                          </a:solidFill>
                          <a:latin typeface="Courier New"/>
                          <a:cs typeface="Courier New"/>
                        </a:rPr>
                        <a:t>))</a:t>
                      </a:r>
                      <a:endParaRPr sz="1300">
                        <a:solidFill>
                          <a:srgbClr val="444455"/>
                        </a:solidFill>
                        <a:latin typeface="Courier New"/>
                        <a:cs typeface="Courier New"/>
                      </a:endParaRPr>
                    </a:p>
                  </a:txBody>
                  <a:tcPr>
                    <a:solidFill>
                      <a:srgbClr val="E8F4FB"/>
                    </a:solidFill>
                  </a:tcPr>
                </a:tc>
                <a:extLst>
                  <a:ext uri="{0D108BD9-81ED-4DB2-BD59-A6C34878D82A}">
                    <a16:rowId xmlns:a16="http://schemas.microsoft.com/office/drawing/2014/main" val="10001"/>
                  </a:ext>
                </a:extLst>
              </a:tr>
              <a:tr h="389468">
                <a:tc>
                  <a:txBody>
                    <a:bodyPr/>
                    <a:lstStyle/>
                    <a:p>
                      <a:pPr algn="l"/>
                      <a:r>
                        <a:rPr lang="en-US" sz="1300" dirty="0">
                          <a:solidFill>
                            <a:srgbClr val="444455"/>
                          </a:solidFill>
                          <a:latin typeface="Calibri"/>
                        </a:rPr>
                        <a:t>"</a:t>
                      </a:r>
                      <a:r>
                        <a:rPr sz="1300">
                          <a:solidFill>
                            <a:srgbClr val="444455"/>
                          </a:solidFill>
                          <a:latin typeface="Calibri"/>
                        </a:rPr>
                        <a:t>Move all fragile objects to the safe zone</a:t>
                      </a:r>
                      <a:r>
                        <a:rPr lang="en-US" sz="1300">
                          <a:solidFill>
                            <a:srgbClr val="444455"/>
                          </a:solidFill>
                          <a:latin typeface="Calibri"/>
                        </a:rPr>
                        <a:t>"</a:t>
                      </a:r>
                      <a:endParaRPr sz="1300">
                        <a:solidFill>
                          <a:srgbClr val="444455"/>
                        </a:solidFill>
                        <a:latin typeface="Calibri"/>
                      </a:endParaRPr>
                    </a:p>
                  </a:txBody>
                  <a:tcPr>
                    <a:solidFill>
                      <a:srgbClr val="F0F4F8"/>
                    </a:solidFill>
                  </a:tcPr>
                </a:tc>
                <a:tc>
                  <a:txBody>
                    <a:bodyPr/>
                    <a:lstStyle/>
                    <a:p>
                      <a:pPr algn="l"/>
                      <a:r>
                        <a:rPr lang="en-US" sz="1300" dirty="0">
                          <a:solidFill>
                            <a:srgbClr val="444455"/>
                          </a:solidFill>
                          <a:latin typeface="Courier New"/>
                          <a:cs typeface="Courier New"/>
                        </a:rPr>
                        <a:t>(:</a:t>
                      </a:r>
                      <a:r>
                        <a:rPr sz="1300" dirty="0">
                          <a:solidFill>
                            <a:srgbClr val="444455"/>
                          </a:solidFill>
                          <a:latin typeface="Courier New"/>
                          <a:cs typeface="Courier New"/>
                        </a:rPr>
                        <a:t>goal (</a:t>
                      </a:r>
                      <a:r>
                        <a:rPr sz="1300" dirty="0" err="1">
                          <a:solidFill>
                            <a:srgbClr val="444455"/>
                          </a:solidFill>
                          <a:latin typeface="Courier New"/>
                          <a:cs typeface="Courier New"/>
                        </a:rPr>
                        <a:t>forall</a:t>
                      </a:r>
                      <a:r>
                        <a:rPr sz="1300" dirty="0">
                          <a:solidFill>
                            <a:srgbClr val="444455"/>
                          </a:solidFill>
                          <a:latin typeface="Courier New"/>
                          <a:cs typeface="Courier New"/>
                        </a:rPr>
                        <a:t> (?o) (when (fragile ?o) (at ?o safe-zone</a:t>
                      </a:r>
                      <a:r>
                        <a:rPr lang="en-US" sz="1300" dirty="0">
                          <a:solidFill>
                            <a:srgbClr val="444455"/>
                          </a:solidFill>
                          <a:latin typeface="Courier New"/>
                          <a:cs typeface="Courier New"/>
                        </a:rPr>
                        <a:t>))))</a:t>
                      </a:r>
                      <a:endParaRPr sz="1300" dirty="0">
                        <a:solidFill>
                          <a:srgbClr val="444455"/>
                        </a:solidFill>
                        <a:latin typeface="Courier New"/>
                        <a:cs typeface="Courier New"/>
                      </a:endParaRPr>
                    </a:p>
                  </a:txBody>
                  <a:tcPr>
                    <a:solidFill>
                      <a:srgbClr val="F0F4F8"/>
                    </a:solidFill>
                  </a:tcPr>
                </a:tc>
                <a:extLst>
                  <a:ext uri="{0D108BD9-81ED-4DB2-BD59-A6C34878D82A}">
                    <a16:rowId xmlns:a16="http://schemas.microsoft.com/office/drawing/2014/main" val="10002"/>
                  </a:ext>
                </a:extLst>
              </a:tr>
            </a:tbl>
          </a:graphicData>
        </a:graphic>
      </p:graphicFrame>
      <p:sp>
        <p:nvSpPr>
          <p:cNvPr id="12" name="TextBox 11"/>
          <p:cNvSpPr txBox="1"/>
          <p:nvPr/>
        </p:nvSpPr>
        <p:spPr>
          <a:xfrm>
            <a:off x="365760" y="4157345"/>
            <a:ext cx="11430000" cy="330200"/>
          </a:xfrm>
          <a:prstGeom prst="rect">
            <a:avLst/>
          </a:prstGeom>
          <a:noFill/>
        </p:spPr>
        <p:txBody>
          <a:bodyPr wrap="square">
            <a:spAutoFit/>
          </a:bodyPr>
          <a:lstStyle/>
          <a:p>
            <a:pPr algn="l"/>
            <a:r>
              <a:rPr sz="1500" b="1" i="0">
                <a:solidFill>
                  <a:srgbClr val="1B275E"/>
                </a:solidFill>
                <a:latin typeface="Calibri"/>
              </a:rPr>
              <a:t>Failure handling: If LLaMA-3 produces invalid PDDL syntax → VAL validator rejects → template fallback triggers.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0"/>
            <a:ext cx="12188952" cy="1051560"/>
          </a:xfrm>
          <a:prstGeom prst="rect">
            <a:avLst/>
          </a:prstGeom>
          <a:solidFill>
            <a:srgbClr val="1B27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1000760"/>
            <a:ext cx="12188952" cy="50800"/>
          </a:xfrm>
          <a:prstGeom prst="rect">
            <a:avLst/>
          </a:prstGeom>
          <a:solidFill>
            <a:srgbClr val="008B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65760" y="73152"/>
            <a:ext cx="11430000" cy="553998"/>
          </a:xfrm>
          <a:prstGeom prst="rect">
            <a:avLst/>
          </a:prstGeom>
          <a:noFill/>
        </p:spPr>
        <p:txBody>
          <a:bodyPr wrap="square" lIns="91440" tIns="45720" rIns="91440" bIns="45720" anchor="t">
            <a:spAutoFit/>
          </a:bodyPr>
          <a:lstStyle/>
          <a:p>
            <a:pPr algn="l"/>
            <a:r>
              <a:rPr sz="3000" b="1" i="0">
                <a:solidFill>
                  <a:srgbClr val="FFFFFF"/>
                </a:solidFill>
                <a:latin typeface="Calibri"/>
              </a:rPr>
              <a:t>Agent 2: Planner ★</a:t>
            </a:r>
          </a:p>
        </p:txBody>
      </p:sp>
      <p:sp>
        <p:nvSpPr>
          <p:cNvPr id="6" name="TextBox 5"/>
          <p:cNvSpPr txBox="1"/>
          <p:nvPr/>
        </p:nvSpPr>
        <p:spPr>
          <a:xfrm>
            <a:off x="365760" y="658368"/>
            <a:ext cx="11430000" cy="347472"/>
          </a:xfrm>
          <a:prstGeom prst="rect">
            <a:avLst/>
          </a:prstGeom>
          <a:noFill/>
        </p:spPr>
        <p:txBody>
          <a:bodyPr wrap="square" lIns="91440" tIns="45720" rIns="91440" bIns="45720" anchor="t">
            <a:spAutoFit/>
          </a:bodyPr>
          <a:lstStyle/>
          <a:p>
            <a:r>
              <a:rPr sz="1500" i="1">
                <a:solidFill>
                  <a:schemeClr val="bg1"/>
                </a:solidFill>
                <a:latin typeface="Calibri"/>
              </a:rPr>
              <a:t>Custom C++ PDDL A* + Genetic Algorithm</a:t>
            </a:r>
          </a:p>
        </p:txBody>
      </p:sp>
      <p:sp>
        <p:nvSpPr>
          <p:cNvPr id="7" name="Rectangle 6"/>
          <p:cNvSpPr/>
          <p:nvPr/>
        </p:nvSpPr>
        <p:spPr>
          <a:xfrm>
            <a:off x="0" y="6693408"/>
            <a:ext cx="12188952" cy="164592"/>
          </a:xfrm>
          <a:prstGeom prst="rect">
            <a:avLst/>
          </a:prstGeom>
          <a:solidFill>
            <a:srgbClr val="1B27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65760" y="1188720"/>
            <a:ext cx="11430000" cy="307777"/>
          </a:xfrm>
          <a:prstGeom prst="rect">
            <a:avLst/>
          </a:prstGeom>
          <a:noFill/>
        </p:spPr>
        <p:txBody>
          <a:bodyPr wrap="square" lIns="91440" tIns="45720" rIns="91440" bIns="45720" anchor="t">
            <a:spAutoFit/>
          </a:bodyPr>
          <a:lstStyle/>
          <a:p>
            <a:pPr algn="l"/>
            <a:r>
              <a:rPr sz="1400" b="0" i="0">
                <a:solidFill>
                  <a:srgbClr val="444455"/>
                </a:solidFill>
                <a:latin typeface="Calibri"/>
              </a:rPr>
              <a:t>*A Search</a:t>
            </a:r>
            <a:r>
              <a:rPr lang="en-US" sz="1400">
                <a:solidFill>
                  <a:srgbClr val="444455"/>
                </a:solidFill>
                <a:latin typeface="Calibri"/>
              </a:rPr>
              <a:t>:</a:t>
            </a:r>
            <a:endParaRPr sz="1400" b="0" i="0">
              <a:solidFill>
                <a:srgbClr val="444455"/>
              </a:solidFill>
              <a:latin typeface="Calibri"/>
            </a:endParaRPr>
          </a:p>
        </p:txBody>
      </p:sp>
      <p:sp>
        <p:nvSpPr>
          <p:cNvPr id="9" name="Rectangle 8"/>
          <p:cNvSpPr/>
          <p:nvPr/>
        </p:nvSpPr>
        <p:spPr>
          <a:xfrm>
            <a:off x="365760" y="1557020"/>
            <a:ext cx="11430000" cy="1879600"/>
          </a:xfrm>
          <a:prstGeom prst="rect">
            <a:avLst/>
          </a:prstGeom>
          <a:solidFill>
            <a:srgbClr val="1E1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67360" y="1633220"/>
            <a:ext cx="11226800" cy="1631216"/>
          </a:xfrm>
          <a:prstGeom prst="rect">
            <a:avLst/>
          </a:prstGeom>
          <a:noFill/>
        </p:spPr>
        <p:txBody>
          <a:bodyPr wrap="square" lIns="91440" tIns="45720" rIns="91440" bIns="45720" anchor="t">
            <a:spAutoFit/>
          </a:bodyPr>
          <a:lstStyle/>
          <a:p>
            <a:r>
              <a:rPr sz="1000" dirty="0">
                <a:solidFill>
                  <a:srgbClr val="CBD3F5"/>
                </a:solidFill>
                <a:latin typeface="Courier New"/>
              </a:rPr>
              <a:t>// C++17 — </a:t>
            </a:r>
            <a:r>
              <a:rPr sz="1000" dirty="0" err="1">
                <a:solidFill>
                  <a:srgbClr val="CBD3F5"/>
                </a:solidFill>
                <a:latin typeface="Courier New"/>
              </a:rPr>
              <a:t>PDDLPlanner</a:t>
            </a:r>
            <a:r>
              <a:rPr sz="1000" dirty="0">
                <a:solidFill>
                  <a:srgbClr val="CBD3F5"/>
                </a:solidFill>
                <a:latin typeface="Courier New"/>
              </a:rPr>
              <a:t>::solve()</a:t>
            </a:r>
          </a:p>
          <a:p>
            <a:r>
              <a:rPr sz="1000" dirty="0">
                <a:solidFill>
                  <a:srgbClr val="CBD3F5"/>
                </a:solidFill>
                <a:latin typeface="Courier New"/>
              </a:rPr>
              <a:t>while (!</a:t>
            </a:r>
            <a:r>
              <a:rPr sz="1000" dirty="0" err="1">
                <a:solidFill>
                  <a:srgbClr val="CBD3F5"/>
                </a:solidFill>
                <a:latin typeface="Courier New"/>
              </a:rPr>
              <a:t>open.empty</a:t>
            </a:r>
            <a:r>
              <a:rPr sz="1000" dirty="0">
                <a:solidFill>
                  <a:srgbClr val="CBD3F5"/>
                </a:solidFill>
                <a:latin typeface="Courier New"/>
              </a:rPr>
              <a:t>()) {</a:t>
            </a:r>
            <a:endParaRPr sz="1000" dirty="0">
              <a:solidFill>
                <a:srgbClr val="CBD3F5"/>
              </a:solidFill>
              <a:latin typeface="Courier New"/>
              <a:cs typeface="Courier New"/>
            </a:endParaRPr>
          </a:p>
          <a:p>
            <a:r>
              <a:rPr lang="en-US" sz="1000">
                <a:solidFill>
                  <a:srgbClr val="CBD3F5"/>
                </a:solidFill>
                <a:latin typeface="Courier New"/>
              </a:rPr>
              <a:t>  </a:t>
            </a:r>
            <a:r>
              <a:rPr sz="1000">
                <a:solidFill>
                  <a:srgbClr val="CBD3F5"/>
                </a:solidFill>
                <a:latin typeface="Courier New"/>
              </a:rPr>
              <a:t>auto [state, g, h] = open.pop();</a:t>
            </a:r>
          </a:p>
          <a:p>
            <a:r>
              <a:rPr lang="en-US" sz="1000" dirty="0">
                <a:solidFill>
                  <a:srgbClr val="CBD3F5"/>
                </a:solidFill>
                <a:latin typeface="Courier New"/>
              </a:rPr>
              <a:t> </a:t>
            </a:r>
            <a:r>
              <a:rPr sz="1000" dirty="0">
                <a:solidFill>
                  <a:srgbClr val="CBD3F5"/>
                </a:solidFill>
                <a:latin typeface="Courier New"/>
              </a:rPr>
              <a:t> if (problem_.</a:t>
            </a:r>
            <a:r>
              <a:rPr sz="1000" dirty="0" err="1">
                <a:solidFill>
                  <a:srgbClr val="CBD3F5"/>
                </a:solidFill>
                <a:latin typeface="Courier New"/>
              </a:rPr>
              <a:t>goal.satisfiedBy</a:t>
            </a:r>
            <a:r>
              <a:rPr sz="1000" dirty="0">
                <a:solidFill>
                  <a:srgbClr val="CBD3F5"/>
                </a:solidFill>
                <a:latin typeface="Courier New"/>
              </a:rPr>
              <a:t>(state)) return reconstruct(state);</a:t>
            </a:r>
            <a:endParaRPr sz="1000" dirty="0">
              <a:solidFill>
                <a:srgbClr val="CBD3F5"/>
              </a:solidFill>
              <a:latin typeface="Courier New"/>
              <a:cs typeface="Courier New"/>
            </a:endParaRPr>
          </a:p>
          <a:p>
            <a:r>
              <a:rPr lang="en-US" sz="1000" dirty="0">
                <a:solidFill>
                  <a:srgbClr val="CBD3F5"/>
                </a:solidFill>
                <a:latin typeface="Courier New"/>
              </a:rPr>
              <a:t> </a:t>
            </a:r>
            <a:r>
              <a:rPr sz="1000">
                <a:solidFill>
                  <a:srgbClr val="CBD3F5"/>
                </a:solidFill>
                <a:latin typeface="Courier New"/>
              </a:rPr>
              <a:t> for (auto&amp; a : domain_.applicable(state)) {</a:t>
            </a:r>
          </a:p>
          <a:p>
            <a:r>
              <a:rPr lang="en-US" sz="1000" dirty="0">
                <a:solidFill>
                  <a:srgbClr val="CBD3F5"/>
                </a:solidFill>
                <a:latin typeface="Courier New"/>
              </a:rPr>
              <a:t>   </a:t>
            </a:r>
            <a:r>
              <a:rPr sz="1000" dirty="0">
                <a:solidFill>
                  <a:srgbClr val="CBD3F5"/>
                </a:solidFill>
                <a:latin typeface="Courier New"/>
              </a:rPr>
              <a:t> auto next = </a:t>
            </a:r>
            <a:r>
              <a:rPr sz="1000" dirty="0" err="1">
                <a:solidFill>
                  <a:srgbClr val="CBD3F5"/>
                </a:solidFill>
                <a:latin typeface="Courier New"/>
              </a:rPr>
              <a:t>a.applyEffects</a:t>
            </a:r>
            <a:r>
              <a:rPr sz="1000" dirty="0">
                <a:solidFill>
                  <a:srgbClr val="CBD3F5"/>
                </a:solidFill>
                <a:latin typeface="Courier New"/>
              </a:rPr>
              <a:t>(state);</a:t>
            </a:r>
            <a:endParaRPr sz="1000" dirty="0">
              <a:solidFill>
                <a:srgbClr val="CBD3F5"/>
              </a:solidFill>
              <a:latin typeface="Courier New"/>
              <a:cs typeface="Courier New"/>
            </a:endParaRPr>
          </a:p>
          <a:p>
            <a:r>
              <a:rPr lang="en-US" sz="1000" dirty="0">
                <a:solidFill>
                  <a:srgbClr val="CBD3F5"/>
                </a:solidFill>
                <a:latin typeface="Courier New"/>
              </a:rPr>
              <a:t>    </a:t>
            </a:r>
            <a:r>
              <a:rPr sz="1000" dirty="0">
                <a:solidFill>
                  <a:srgbClr val="CBD3F5"/>
                </a:solidFill>
                <a:latin typeface="Courier New"/>
              </a:rPr>
              <a:t>float f = g + </a:t>
            </a:r>
            <a:r>
              <a:rPr sz="1000" err="1">
                <a:solidFill>
                  <a:srgbClr val="CBD3F5"/>
                </a:solidFill>
                <a:latin typeface="Courier New"/>
              </a:rPr>
              <a:t>a.cost</a:t>
            </a:r>
            <a:r>
              <a:rPr sz="1000" dirty="0">
                <a:solidFill>
                  <a:srgbClr val="CBD3F5"/>
                </a:solidFill>
                <a:latin typeface="Courier New"/>
              </a:rPr>
              <a:t> + heuristic(next);  // admissible: unsatisfied goal count</a:t>
            </a:r>
            <a:endParaRPr sz="1000" dirty="0">
              <a:solidFill>
                <a:srgbClr val="CBD3F5"/>
              </a:solidFill>
              <a:latin typeface="Courier New"/>
              <a:cs typeface="Courier New"/>
            </a:endParaRPr>
          </a:p>
          <a:p>
            <a:r>
              <a:rPr lang="en-US" sz="1000" dirty="0">
                <a:solidFill>
                  <a:srgbClr val="CBD3F5"/>
                </a:solidFill>
                <a:latin typeface="Courier New"/>
              </a:rPr>
              <a:t>    </a:t>
            </a:r>
            <a:r>
              <a:rPr sz="1000" dirty="0" err="1">
                <a:solidFill>
                  <a:srgbClr val="CBD3F5"/>
                </a:solidFill>
                <a:latin typeface="Courier New"/>
              </a:rPr>
              <a:t>open.push</a:t>
            </a:r>
            <a:r>
              <a:rPr sz="1000" dirty="0">
                <a:solidFill>
                  <a:srgbClr val="CBD3F5"/>
                </a:solidFill>
                <a:latin typeface="Courier New"/>
              </a:rPr>
              <a:t>({next, g + </a:t>
            </a:r>
            <a:r>
              <a:rPr sz="1000" dirty="0" err="1">
                <a:solidFill>
                  <a:srgbClr val="CBD3F5"/>
                </a:solidFill>
                <a:latin typeface="Courier New"/>
              </a:rPr>
              <a:t>a.cost</a:t>
            </a:r>
            <a:r>
              <a:rPr sz="1000" dirty="0">
                <a:solidFill>
                  <a:srgbClr val="CBD3F5"/>
                </a:solidFill>
                <a:latin typeface="Courier New"/>
              </a:rPr>
              <a:t>, heuristic(next), f});</a:t>
            </a:r>
            <a:endParaRPr sz="1000" dirty="0">
              <a:solidFill>
                <a:srgbClr val="CBD3F5"/>
              </a:solidFill>
              <a:latin typeface="Courier New"/>
              <a:cs typeface="Courier New"/>
            </a:endParaRPr>
          </a:p>
          <a:p>
            <a:r>
              <a:rPr lang="en-US" sz="1000">
                <a:solidFill>
                  <a:srgbClr val="CBD3F5"/>
                </a:solidFill>
                <a:latin typeface="Courier New"/>
              </a:rPr>
              <a:t>  </a:t>
            </a:r>
            <a:r>
              <a:rPr sz="1000">
                <a:solidFill>
                  <a:srgbClr val="CBD3F5"/>
                </a:solidFill>
                <a:latin typeface="Courier New"/>
              </a:rPr>
              <a:t>}</a:t>
            </a:r>
          </a:p>
          <a:p>
            <a:r>
              <a:rPr sz="1000">
                <a:solidFill>
                  <a:srgbClr val="CBD3F5"/>
                </a:solidFill>
                <a:latin typeface="Courier New"/>
              </a:rPr>
              <a:t>}</a:t>
            </a:r>
          </a:p>
        </p:txBody>
      </p:sp>
      <p:sp>
        <p:nvSpPr>
          <p:cNvPr id="11" name="TextBox 10"/>
          <p:cNvSpPr txBox="1"/>
          <p:nvPr/>
        </p:nvSpPr>
        <p:spPr>
          <a:xfrm>
            <a:off x="365760" y="3512820"/>
            <a:ext cx="11430000" cy="330200"/>
          </a:xfrm>
          <a:prstGeom prst="rect">
            <a:avLst/>
          </a:prstGeom>
          <a:noFill/>
        </p:spPr>
        <p:txBody>
          <a:bodyPr wrap="square">
            <a:spAutoFit/>
          </a:bodyPr>
          <a:lstStyle/>
          <a:p>
            <a:pPr algn="l"/>
            <a:r>
              <a:rPr sz="1500" b="1" i="0">
                <a:solidFill>
                  <a:srgbClr val="1B275E"/>
                </a:solidFill>
                <a:latin typeface="Calibri"/>
              </a:rPr>
              <a:t>Heuristic: Unsatisfied goal count — (goal &amp; ~current).count() — admissible; A* guarantees optimal plan length.</a:t>
            </a:r>
          </a:p>
        </p:txBody>
      </p:sp>
      <p:sp>
        <p:nvSpPr>
          <p:cNvPr id="12" name="TextBox 11"/>
          <p:cNvSpPr txBox="1"/>
          <p:nvPr/>
        </p:nvSpPr>
        <p:spPr>
          <a:xfrm>
            <a:off x="365760" y="3868420"/>
            <a:ext cx="11430000" cy="330200"/>
          </a:xfrm>
          <a:prstGeom prst="rect">
            <a:avLst/>
          </a:prstGeom>
          <a:noFill/>
        </p:spPr>
        <p:txBody>
          <a:bodyPr wrap="square">
            <a:spAutoFit/>
          </a:bodyPr>
          <a:lstStyle/>
          <a:p>
            <a:pPr algn="l"/>
            <a:r>
              <a:rPr sz="1500" b="1" i="0">
                <a:solidFill>
                  <a:srgbClr val="1B275E"/>
                </a:solidFill>
                <a:latin typeface="Calibri"/>
              </a:rPr>
              <a:t>GA Plan Optimiser:</a:t>
            </a:r>
          </a:p>
        </p:txBody>
      </p:sp>
      <p:sp>
        <p:nvSpPr>
          <p:cNvPr id="13" name="TextBox 12"/>
          <p:cNvSpPr txBox="1"/>
          <p:nvPr/>
        </p:nvSpPr>
        <p:spPr>
          <a:xfrm>
            <a:off x="365760" y="4224020"/>
            <a:ext cx="11430000" cy="962025"/>
          </a:xfrm>
          <a:prstGeom prst="rect">
            <a:avLst/>
          </a:prstGeom>
          <a:noFill/>
        </p:spPr>
        <p:txBody>
          <a:bodyPr wrap="square">
            <a:spAutoFit/>
          </a:bodyPr>
          <a:lstStyle/>
          <a:p>
            <a:r>
              <a:rPr sz="1500">
                <a:solidFill>
                  <a:srgbClr val="444455"/>
                </a:solidFill>
                <a:latin typeface="Calibri"/>
              </a:rPr>
              <a:t>• Population: valid A* plan candidates</a:t>
            </a:r>
          </a:p>
          <a:p>
            <a:r>
              <a:rPr sz="1500">
                <a:solidFill>
                  <a:srgbClr val="444455"/>
                </a:solidFill>
                <a:latin typeface="Calibri"/>
              </a:rPr>
              <a:t>• Fitness: min(steps × w₁ + est_time × w₂ + collision_risk × w₃)</a:t>
            </a:r>
          </a:p>
          <a:p>
            <a:r>
              <a:rPr sz="1500">
                <a:solidFill>
                  <a:srgbClr val="444455"/>
                </a:solidFill>
                <a:latin typeface="Calibri"/>
              </a:rPr>
              <a:t>• Output: Pareto-optimal plan for execution</a:t>
            </a:r>
          </a:p>
        </p:txBody>
      </p:sp>
      <p:sp>
        <p:nvSpPr>
          <p:cNvPr id="14" name="TextBox 13"/>
          <p:cNvSpPr txBox="1"/>
          <p:nvPr/>
        </p:nvSpPr>
        <p:spPr>
          <a:xfrm>
            <a:off x="365760" y="5236845"/>
            <a:ext cx="11430000" cy="330200"/>
          </a:xfrm>
          <a:prstGeom prst="rect">
            <a:avLst/>
          </a:prstGeom>
          <a:noFill/>
        </p:spPr>
        <p:txBody>
          <a:bodyPr wrap="square">
            <a:spAutoFit/>
          </a:bodyPr>
          <a:lstStyle/>
          <a:p>
            <a:pPr algn="l"/>
            <a:r>
              <a:rPr sz="1500" b="1" i="0">
                <a:solidFill>
                  <a:srgbClr val="1B275E"/>
                </a:solidFill>
                <a:latin typeface="Calibri"/>
              </a:rPr>
              <a:t>PDDL Domain: 5 actions — pick, place, stack, move-to, inspect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0"/>
            <a:ext cx="12188952" cy="1051560"/>
          </a:xfrm>
          <a:prstGeom prst="rect">
            <a:avLst/>
          </a:prstGeom>
          <a:solidFill>
            <a:srgbClr val="1B27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1000760"/>
            <a:ext cx="12188952" cy="50800"/>
          </a:xfrm>
          <a:prstGeom prst="rect">
            <a:avLst/>
          </a:prstGeom>
          <a:solidFill>
            <a:srgbClr val="008B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65760" y="73152"/>
            <a:ext cx="11430000" cy="594360"/>
          </a:xfrm>
          <a:prstGeom prst="rect">
            <a:avLst/>
          </a:prstGeom>
          <a:noFill/>
        </p:spPr>
        <p:txBody>
          <a:bodyPr wrap="square">
            <a:spAutoFit/>
          </a:bodyPr>
          <a:lstStyle/>
          <a:p>
            <a:pPr algn="l"/>
            <a:r>
              <a:rPr sz="3000" b="1" i="0">
                <a:solidFill>
                  <a:srgbClr val="FFFFFF"/>
                </a:solidFill>
                <a:latin typeface="Calibri"/>
              </a:rPr>
              <a:t>Agents 3, 4, 5</a:t>
            </a:r>
          </a:p>
        </p:txBody>
      </p:sp>
      <p:sp>
        <p:nvSpPr>
          <p:cNvPr id="6" name="TextBox 5"/>
          <p:cNvSpPr txBox="1"/>
          <p:nvPr/>
        </p:nvSpPr>
        <p:spPr>
          <a:xfrm>
            <a:off x="365760" y="658368"/>
            <a:ext cx="11430000" cy="347472"/>
          </a:xfrm>
          <a:prstGeom prst="rect">
            <a:avLst/>
          </a:prstGeom>
          <a:noFill/>
        </p:spPr>
        <p:txBody>
          <a:bodyPr wrap="square" lIns="91440" tIns="45720" rIns="91440" bIns="45720" anchor="t">
            <a:spAutoFit/>
          </a:bodyPr>
          <a:lstStyle/>
          <a:p>
            <a:r>
              <a:rPr sz="1500" i="1">
                <a:solidFill>
                  <a:schemeClr val="bg1"/>
                </a:solidFill>
                <a:latin typeface="Calibri"/>
              </a:rPr>
              <a:t>Perception → Execution → Monitoring</a:t>
            </a:r>
          </a:p>
        </p:txBody>
      </p:sp>
      <p:sp>
        <p:nvSpPr>
          <p:cNvPr id="7" name="Rectangle 6"/>
          <p:cNvSpPr/>
          <p:nvPr/>
        </p:nvSpPr>
        <p:spPr>
          <a:xfrm>
            <a:off x="0" y="6693408"/>
            <a:ext cx="12188952" cy="164592"/>
          </a:xfrm>
          <a:prstGeom prst="rect">
            <a:avLst/>
          </a:prstGeom>
          <a:solidFill>
            <a:srgbClr val="1B27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65760" y="1188720"/>
            <a:ext cx="11430000" cy="330200"/>
          </a:xfrm>
          <a:prstGeom prst="rect">
            <a:avLst/>
          </a:prstGeom>
          <a:noFill/>
        </p:spPr>
        <p:txBody>
          <a:bodyPr wrap="square">
            <a:spAutoFit/>
          </a:bodyPr>
          <a:lstStyle/>
          <a:p>
            <a:pPr algn="l"/>
            <a:r>
              <a:rPr sz="1500" b="1" i="0">
                <a:solidFill>
                  <a:srgbClr val="1B275E"/>
                </a:solidFill>
                <a:latin typeface="Calibri"/>
              </a:rPr>
              <a:t>Agent 3 — Perception</a:t>
            </a:r>
          </a:p>
        </p:txBody>
      </p:sp>
      <p:sp>
        <p:nvSpPr>
          <p:cNvPr id="9" name="TextBox 8"/>
          <p:cNvSpPr txBox="1"/>
          <p:nvPr/>
        </p:nvSpPr>
        <p:spPr>
          <a:xfrm>
            <a:off x="365760" y="1544320"/>
            <a:ext cx="11430000" cy="1257300"/>
          </a:xfrm>
          <a:prstGeom prst="rect">
            <a:avLst/>
          </a:prstGeom>
          <a:noFill/>
        </p:spPr>
        <p:txBody>
          <a:bodyPr wrap="square">
            <a:spAutoFit/>
          </a:bodyPr>
          <a:lstStyle/>
          <a:p>
            <a:r>
              <a:rPr sz="1500">
                <a:solidFill>
                  <a:srgbClr val="444455"/>
                </a:solidFill>
                <a:latin typeface="Calibri"/>
              </a:rPr>
              <a:t>• FoundationPose (Wen et al., NVIDIA 2024): 6-DoF object pose estimation, minimal per-object setup (reference images or CAD model; no model fine-tuning required)</a:t>
            </a:r>
          </a:p>
          <a:p>
            <a:r>
              <a:rPr sz="1500">
                <a:solidFill>
                  <a:srgbClr val="444455"/>
                </a:solidFill>
                <a:latin typeface="Calibri"/>
              </a:rPr>
              <a:t>• nvblox: builds live SDF obstacle map from depth stream</a:t>
            </a:r>
          </a:p>
          <a:p>
            <a:r>
              <a:rPr sz="1500">
                <a:solidFill>
                  <a:srgbClr val="444455"/>
                </a:solidFill>
                <a:latin typeface="Calibri"/>
              </a:rPr>
              <a:t>• Omniverse Replicator: synthetic training data (domain-randomised RGB-D)</a:t>
            </a:r>
          </a:p>
          <a:p>
            <a:r>
              <a:rPr sz="1500">
                <a:solidFill>
                  <a:srgbClr val="444455"/>
                </a:solidFill>
                <a:latin typeface="Calibri"/>
              </a:rPr>
              <a:t>• Output: world state JSON {object_id, pose_6dof, class, affordances}</a:t>
            </a:r>
          </a:p>
        </p:txBody>
      </p:sp>
      <p:sp>
        <p:nvSpPr>
          <p:cNvPr id="10" name="TextBox 9"/>
          <p:cNvSpPr txBox="1"/>
          <p:nvPr/>
        </p:nvSpPr>
        <p:spPr>
          <a:xfrm>
            <a:off x="365760" y="2852420"/>
            <a:ext cx="11430000" cy="330200"/>
          </a:xfrm>
          <a:prstGeom prst="rect">
            <a:avLst/>
          </a:prstGeom>
          <a:noFill/>
        </p:spPr>
        <p:txBody>
          <a:bodyPr wrap="square">
            <a:spAutoFit/>
          </a:bodyPr>
          <a:lstStyle/>
          <a:p>
            <a:pPr algn="l"/>
            <a:r>
              <a:rPr sz="1500" b="1" i="0">
                <a:solidFill>
                  <a:srgbClr val="1B275E"/>
                </a:solidFill>
                <a:latin typeface="Calibri"/>
              </a:rPr>
              <a:t>Agent 4 — Executor</a:t>
            </a:r>
          </a:p>
        </p:txBody>
      </p:sp>
      <p:sp>
        <p:nvSpPr>
          <p:cNvPr id="11" name="TextBox 10"/>
          <p:cNvSpPr txBox="1"/>
          <p:nvPr/>
        </p:nvSpPr>
        <p:spPr>
          <a:xfrm>
            <a:off x="365760" y="3208020"/>
            <a:ext cx="11430000" cy="962025"/>
          </a:xfrm>
          <a:prstGeom prst="rect">
            <a:avLst/>
          </a:prstGeom>
          <a:noFill/>
        </p:spPr>
        <p:txBody>
          <a:bodyPr wrap="square">
            <a:spAutoFit/>
          </a:bodyPr>
          <a:lstStyle/>
          <a:p>
            <a:r>
              <a:rPr sz="1500">
                <a:solidFill>
                  <a:srgbClr val="444455"/>
                </a:solidFill>
                <a:latin typeface="Calibri"/>
              </a:rPr>
              <a:t>• Isaac ROS cuMotion (MoveIt2 plugin): GPU-accelerated collision-free trajectory planning</a:t>
            </a:r>
          </a:p>
          <a:p>
            <a:r>
              <a:rPr sz="1500">
                <a:solidFill>
                  <a:srgbClr val="444455"/>
                </a:solidFill>
                <a:latin typeface="Calibri"/>
              </a:rPr>
              <a:t>• Isaac Sim: photorealistic physics simulation, Franka Research 3 robot</a:t>
            </a:r>
          </a:p>
          <a:p>
            <a:r>
              <a:rPr sz="1500">
                <a:solidFill>
                  <a:srgbClr val="444455"/>
                </a:solidFill>
                <a:latin typeface="Calibri"/>
              </a:rPr>
              <a:t>• Up to 60× faster motion generation than CPU-based planners (Sundaralingam et al., NVIDIA 2023)</a:t>
            </a:r>
          </a:p>
        </p:txBody>
      </p:sp>
      <p:sp>
        <p:nvSpPr>
          <p:cNvPr id="12" name="TextBox 11"/>
          <p:cNvSpPr txBox="1"/>
          <p:nvPr/>
        </p:nvSpPr>
        <p:spPr>
          <a:xfrm>
            <a:off x="365760" y="4220845"/>
            <a:ext cx="11430000" cy="330200"/>
          </a:xfrm>
          <a:prstGeom prst="rect">
            <a:avLst/>
          </a:prstGeom>
          <a:noFill/>
        </p:spPr>
        <p:txBody>
          <a:bodyPr wrap="square">
            <a:spAutoFit/>
          </a:bodyPr>
          <a:lstStyle/>
          <a:p>
            <a:pPr algn="l"/>
            <a:r>
              <a:rPr sz="1500" b="1" i="0">
                <a:solidFill>
                  <a:srgbClr val="1B275E"/>
                </a:solidFill>
                <a:latin typeface="Calibri"/>
              </a:rPr>
              <a:t>Agent 5 — Monitor</a:t>
            </a:r>
          </a:p>
        </p:txBody>
      </p:sp>
      <p:sp>
        <p:nvSpPr>
          <p:cNvPr id="13" name="TextBox 12"/>
          <p:cNvSpPr txBox="1"/>
          <p:nvPr/>
        </p:nvSpPr>
        <p:spPr>
          <a:xfrm>
            <a:off x="365760" y="4576445"/>
            <a:ext cx="11430000" cy="1257300"/>
          </a:xfrm>
          <a:prstGeom prst="rect">
            <a:avLst/>
          </a:prstGeom>
          <a:noFill/>
        </p:spPr>
        <p:txBody>
          <a:bodyPr wrap="square">
            <a:spAutoFit/>
          </a:bodyPr>
          <a:lstStyle/>
          <a:p>
            <a:r>
              <a:rPr sz="1500">
                <a:solidFill>
                  <a:srgbClr val="444455"/>
                </a:solidFill>
                <a:latin typeface="Calibri"/>
              </a:rPr>
              <a:t>• C++ rule engine + ROS2 Behaviour Trees</a:t>
            </a:r>
          </a:p>
          <a:p>
            <a:r>
              <a:rPr sz="1500">
                <a:solidFill>
                  <a:srgbClr val="444455"/>
                </a:solidFill>
                <a:latin typeface="Calibri"/>
              </a:rPr>
              <a:t>• Failure classes: grasp_failure, collision_detected, object_not_found</a:t>
            </a:r>
          </a:p>
          <a:p>
            <a:r>
              <a:rPr sz="1500">
                <a:solidFill>
                  <a:srgbClr val="444455"/>
                </a:solidFill>
                <a:latin typeface="Calibri"/>
              </a:rPr>
              <a:t>• On failure: re-observe → update world state → trigger replan (→ Agent 2)</a:t>
            </a:r>
          </a:p>
          <a:p>
            <a:r>
              <a:rPr sz="1500">
                <a:solidFill>
                  <a:srgbClr val="444455"/>
                </a:solidFill>
                <a:latin typeface="Calibri"/>
              </a:rPr>
              <a:t>• SQLite episode logging for post-hoc analysis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0"/>
            <a:ext cx="12188952" cy="1051560"/>
          </a:xfrm>
          <a:prstGeom prst="rect">
            <a:avLst/>
          </a:prstGeom>
          <a:solidFill>
            <a:srgbClr val="1B27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1000760"/>
            <a:ext cx="12188952" cy="50800"/>
          </a:xfrm>
          <a:prstGeom prst="rect">
            <a:avLst/>
          </a:prstGeom>
          <a:solidFill>
            <a:srgbClr val="008B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65760" y="73152"/>
            <a:ext cx="11430000" cy="594360"/>
          </a:xfrm>
          <a:prstGeom prst="rect">
            <a:avLst/>
          </a:prstGeom>
          <a:noFill/>
        </p:spPr>
        <p:txBody>
          <a:bodyPr wrap="square">
            <a:spAutoFit/>
          </a:bodyPr>
          <a:lstStyle/>
          <a:p>
            <a:pPr algn="l"/>
            <a:r>
              <a:rPr sz="3000" b="1" i="0">
                <a:solidFill>
                  <a:srgbClr val="FFFFFF"/>
                </a:solidFill>
                <a:latin typeface="Calibri"/>
              </a:rPr>
              <a:t>Technology Stack</a:t>
            </a:r>
          </a:p>
        </p:txBody>
      </p:sp>
      <p:sp>
        <p:nvSpPr>
          <p:cNvPr id="6" name="TextBox 5"/>
          <p:cNvSpPr txBox="1"/>
          <p:nvPr/>
        </p:nvSpPr>
        <p:spPr>
          <a:xfrm>
            <a:off x="365760" y="658368"/>
            <a:ext cx="11430000" cy="347472"/>
          </a:xfrm>
          <a:prstGeom prst="rect">
            <a:avLst/>
          </a:prstGeom>
          <a:noFill/>
        </p:spPr>
        <p:txBody>
          <a:bodyPr wrap="square" lIns="91440" tIns="45720" rIns="91440" bIns="45720" anchor="t">
            <a:spAutoFit/>
          </a:bodyPr>
          <a:lstStyle/>
          <a:p>
            <a:r>
              <a:rPr sz="1500" i="1">
                <a:solidFill>
                  <a:schemeClr val="bg1"/>
                </a:solidFill>
                <a:latin typeface="Calibri"/>
              </a:rPr>
              <a:t>NVIDIA-Only Stack — Zero Licensing Cost</a:t>
            </a:r>
          </a:p>
        </p:txBody>
      </p:sp>
      <p:sp>
        <p:nvSpPr>
          <p:cNvPr id="7" name="Rectangle 6"/>
          <p:cNvSpPr/>
          <p:nvPr/>
        </p:nvSpPr>
        <p:spPr>
          <a:xfrm>
            <a:off x="0" y="6693408"/>
            <a:ext cx="12188952" cy="164592"/>
          </a:xfrm>
          <a:prstGeom prst="rect">
            <a:avLst/>
          </a:prstGeom>
          <a:solidFill>
            <a:srgbClr val="1B27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8" name="Table 7"/>
          <p:cNvGraphicFramePr>
            <a:graphicFrameLocks noGrp="1"/>
          </p:cNvGraphicFramePr>
          <p:nvPr>
            <p:extLst>
              <p:ext uri="{D42A27DB-BD31-4B8C-83A1-F6EECF244321}">
                <p14:modId xmlns:p14="http://schemas.microsoft.com/office/powerpoint/2010/main" val="3378573942"/>
              </p:ext>
            </p:extLst>
          </p:nvPr>
        </p:nvGraphicFramePr>
        <p:xfrm>
          <a:off x="365760" y="1188720"/>
          <a:ext cx="11430000" cy="4381732"/>
        </p:xfrm>
        <a:graphic>
          <a:graphicData uri="http://schemas.openxmlformats.org/drawingml/2006/table">
            <a:tbl>
              <a:tblPr firstRow="1" bandRow="1">
                <a:tableStyleId>{5C22544A-7EE6-4342-B048-85BDC9FD1C3A}</a:tableStyleId>
              </a:tblPr>
              <a:tblGrid>
                <a:gridCol w="3810000">
                  <a:extLst>
                    <a:ext uri="{9D8B030D-6E8A-4147-A177-3AD203B41FA5}">
                      <a16:colId xmlns:a16="http://schemas.microsoft.com/office/drawing/2014/main" val="20000"/>
                    </a:ext>
                  </a:extLst>
                </a:gridCol>
                <a:gridCol w="3810000">
                  <a:extLst>
                    <a:ext uri="{9D8B030D-6E8A-4147-A177-3AD203B41FA5}">
                      <a16:colId xmlns:a16="http://schemas.microsoft.com/office/drawing/2014/main" val="20001"/>
                    </a:ext>
                  </a:extLst>
                </a:gridCol>
                <a:gridCol w="3810000">
                  <a:extLst>
                    <a:ext uri="{9D8B030D-6E8A-4147-A177-3AD203B41FA5}">
                      <a16:colId xmlns:a16="http://schemas.microsoft.com/office/drawing/2014/main" val="20002"/>
                    </a:ext>
                  </a:extLst>
                </a:gridCol>
              </a:tblGrid>
              <a:tr h="364836">
                <a:tc>
                  <a:txBody>
                    <a:bodyPr/>
                    <a:lstStyle/>
                    <a:p>
                      <a:pPr algn="l"/>
                      <a:r>
                        <a:rPr sz="1300" b="1">
                          <a:solidFill>
                            <a:srgbClr val="FFFFFF"/>
                          </a:solidFill>
                          <a:latin typeface="Calibri"/>
                        </a:rPr>
                        <a:t>Layer</a:t>
                      </a:r>
                    </a:p>
                  </a:txBody>
                  <a:tcPr>
                    <a:solidFill>
                      <a:srgbClr val="1B275E"/>
                    </a:solidFill>
                  </a:tcPr>
                </a:tc>
                <a:tc>
                  <a:txBody>
                    <a:bodyPr/>
                    <a:lstStyle/>
                    <a:p>
                      <a:pPr algn="l"/>
                      <a:r>
                        <a:rPr sz="1300" b="1">
                          <a:solidFill>
                            <a:srgbClr val="FFFFFF"/>
                          </a:solidFill>
                          <a:latin typeface="Calibri"/>
                        </a:rPr>
                        <a:t>Technology</a:t>
                      </a:r>
                    </a:p>
                  </a:txBody>
                  <a:tcPr>
                    <a:solidFill>
                      <a:srgbClr val="1B275E"/>
                    </a:solidFill>
                  </a:tcPr>
                </a:tc>
                <a:tc>
                  <a:txBody>
                    <a:bodyPr/>
                    <a:lstStyle/>
                    <a:p>
                      <a:pPr algn="l"/>
                      <a:r>
                        <a:rPr sz="1300" b="1">
                          <a:solidFill>
                            <a:srgbClr val="FFFFFF"/>
                          </a:solidFill>
                          <a:latin typeface="Calibri"/>
                        </a:rPr>
                        <a:t>Rationale</a:t>
                      </a:r>
                    </a:p>
                  </a:txBody>
                  <a:tcPr>
                    <a:solidFill>
                      <a:srgbClr val="1B275E"/>
                    </a:solidFill>
                  </a:tcPr>
                </a:tc>
                <a:extLst>
                  <a:ext uri="{0D108BD9-81ED-4DB2-BD59-A6C34878D82A}">
                    <a16:rowId xmlns:a16="http://schemas.microsoft.com/office/drawing/2014/main" val="10000"/>
                  </a:ext>
                </a:extLst>
              </a:tr>
              <a:tr h="364836">
                <a:tc>
                  <a:txBody>
                    <a:bodyPr/>
                    <a:lstStyle/>
                    <a:p>
                      <a:pPr algn="l"/>
                      <a:r>
                        <a:rPr sz="1300">
                          <a:solidFill>
                            <a:srgbClr val="444455"/>
                          </a:solidFill>
                          <a:latin typeface="Calibri"/>
                        </a:rPr>
                        <a:t>Simulation</a:t>
                      </a:r>
                    </a:p>
                  </a:txBody>
                  <a:tcPr>
                    <a:solidFill>
                      <a:srgbClr val="E8F4FB"/>
                    </a:solidFill>
                  </a:tcPr>
                </a:tc>
                <a:tc>
                  <a:txBody>
                    <a:bodyPr/>
                    <a:lstStyle/>
                    <a:p>
                      <a:pPr algn="l"/>
                      <a:r>
                        <a:rPr sz="1300">
                          <a:solidFill>
                            <a:srgbClr val="444455"/>
                          </a:solidFill>
                          <a:latin typeface="Calibri"/>
                        </a:rPr>
                        <a:t>Isaac Sim (Omniverse)</a:t>
                      </a:r>
                    </a:p>
                  </a:txBody>
                  <a:tcPr>
                    <a:solidFill>
                      <a:srgbClr val="E8F4FB"/>
                    </a:solidFill>
                  </a:tcPr>
                </a:tc>
                <a:tc>
                  <a:txBody>
                    <a:bodyPr/>
                    <a:lstStyle/>
                    <a:p>
                      <a:pPr algn="l"/>
                      <a:r>
                        <a:rPr sz="1300">
                          <a:solidFill>
                            <a:srgbClr val="444455"/>
                          </a:solidFill>
                          <a:latin typeface="Calibri"/>
                        </a:rPr>
                        <a:t>Free via NVIDIA Dev Program; photorealistic</a:t>
                      </a:r>
                    </a:p>
                  </a:txBody>
                  <a:tcPr>
                    <a:solidFill>
                      <a:srgbClr val="E8F4FB"/>
                    </a:solidFill>
                  </a:tcPr>
                </a:tc>
                <a:extLst>
                  <a:ext uri="{0D108BD9-81ED-4DB2-BD59-A6C34878D82A}">
                    <a16:rowId xmlns:a16="http://schemas.microsoft.com/office/drawing/2014/main" val="10001"/>
                  </a:ext>
                </a:extLst>
              </a:tr>
              <a:tr h="364836">
                <a:tc>
                  <a:txBody>
                    <a:bodyPr/>
                    <a:lstStyle/>
                    <a:p>
                      <a:pPr algn="l"/>
                      <a:r>
                        <a:rPr sz="1300">
                          <a:solidFill>
                            <a:srgbClr val="444455"/>
                          </a:solidFill>
                          <a:latin typeface="Calibri"/>
                        </a:rPr>
                        <a:t>Motion Planning</a:t>
                      </a:r>
                    </a:p>
                  </a:txBody>
                  <a:tcPr>
                    <a:solidFill>
                      <a:srgbClr val="F0F4F8"/>
                    </a:solidFill>
                  </a:tcPr>
                </a:tc>
                <a:tc>
                  <a:txBody>
                    <a:bodyPr/>
                    <a:lstStyle/>
                    <a:p>
                      <a:pPr algn="l"/>
                      <a:r>
                        <a:rPr sz="1300" dirty="0">
                          <a:solidFill>
                            <a:srgbClr val="444455"/>
                          </a:solidFill>
                          <a:latin typeface="Calibri"/>
                        </a:rPr>
                        <a:t>Isaac ROS </a:t>
                      </a:r>
                      <a:r>
                        <a:rPr sz="1300" dirty="0" err="1">
                          <a:solidFill>
                            <a:srgbClr val="444455"/>
                          </a:solidFill>
                          <a:latin typeface="Calibri"/>
                        </a:rPr>
                        <a:t>cuMotion</a:t>
                      </a:r>
                      <a:r>
                        <a:rPr sz="1300" dirty="0">
                          <a:solidFill>
                            <a:srgbClr val="444455"/>
                          </a:solidFill>
                          <a:latin typeface="Calibri"/>
                        </a:rPr>
                        <a:t> + </a:t>
                      </a:r>
                      <a:r>
                        <a:rPr sz="1300" dirty="0" err="1">
                          <a:solidFill>
                            <a:srgbClr val="444455"/>
                          </a:solidFill>
                          <a:latin typeface="Calibri"/>
                        </a:rPr>
                        <a:t>cuRobo</a:t>
                      </a:r>
                    </a:p>
                  </a:txBody>
                  <a:tcPr>
                    <a:solidFill>
                      <a:srgbClr val="F0F4F8"/>
                    </a:solidFill>
                  </a:tcPr>
                </a:tc>
                <a:tc>
                  <a:txBody>
                    <a:bodyPr/>
                    <a:lstStyle/>
                    <a:p>
                      <a:pPr algn="l"/>
                      <a:r>
                        <a:rPr sz="1300" dirty="0">
                          <a:solidFill>
                            <a:srgbClr val="444455"/>
                          </a:solidFill>
                          <a:latin typeface="Calibri"/>
                        </a:rPr>
                        <a:t>GPU-accelerated; up to 60× faster than CPU motion generation (</a:t>
                      </a:r>
                      <a:r>
                        <a:rPr sz="1300" dirty="0" err="1">
                          <a:solidFill>
                            <a:srgbClr val="444455"/>
                          </a:solidFill>
                          <a:latin typeface="Calibri"/>
                        </a:rPr>
                        <a:t>cuRobo</a:t>
                      </a:r>
                      <a:r>
                        <a:rPr sz="1300" dirty="0">
                          <a:solidFill>
                            <a:srgbClr val="444455"/>
                          </a:solidFill>
                          <a:latin typeface="Calibri"/>
                        </a:rPr>
                        <a:t> paper, 2023)</a:t>
                      </a:r>
                    </a:p>
                  </a:txBody>
                  <a:tcPr>
                    <a:solidFill>
                      <a:srgbClr val="F0F4F8"/>
                    </a:solidFill>
                  </a:tcPr>
                </a:tc>
                <a:extLst>
                  <a:ext uri="{0D108BD9-81ED-4DB2-BD59-A6C34878D82A}">
                    <a16:rowId xmlns:a16="http://schemas.microsoft.com/office/drawing/2014/main" val="10002"/>
                  </a:ext>
                </a:extLst>
              </a:tr>
              <a:tr h="364836">
                <a:tc>
                  <a:txBody>
                    <a:bodyPr/>
                    <a:lstStyle/>
                    <a:p>
                      <a:pPr algn="l"/>
                      <a:r>
                        <a:rPr sz="1300">
                          <a:solidFill>
                            <a:srgbClr val="444455"/>
                          </a:solidFill>
                          <a:latin typeface="Calibri"/>
                        </a:rPr>
                        <a:t>Perception</a:t>
                      </a:r>
                    </a:p>
                  </a:txBody>
                  <a:tcPr>
                    <a:solidFill>
                      <a:srgbClr val="E8F4FB"/>
                    </a:solidFill>
                  </a:tcPr>
                </a:tc>
                <a:tc>
                  <a:txBody>
                    <a:bodyPr/>
                    <a:lstStyle/>
                    <a:p>
                      <a:pPr algn="l"/>
                      <a:r>
                        <a:rPr sz="1300" dirty="0" err="1">
                          <a:solidFill>
                            <a:srgbClr val="444455"/>
                          </a:solidFill>
                          <a:latin typeface="Calibri"/>
                        </a:rPr>
                        <a:t>FoundationPose</a:t>
                      </a:r>
                      <a:r>
                        <a:rPr sz="1300" dirty="0">
                          <a:solidFill>
                            <a:srgbClr val="444455"/>
                          </a:solidFill>
                          <a:latin typeface="Calibri"/>
                        </a:rPr>
                        <a:t> + </a:t>
                      </a:r>
                      <a:r>
                        <a:rPr sz="1300" dirty="0" err="1">
                          <a:solidFill>
                            <a:srgbClr val="444455"/>
                          </a:solidFill>
                          <a:latin typeface="Calibri"/>
                        </a:rPr>
                        <a:t>nvblox</a:t>
                      </a:r>
                    </a:p>
                  </a:txBody>
                  <a:tcPr>
                    <a:solidFill>
                      <a:srgbClr val="E8F4FB"/>
                    </a:solidFill>
                  </a:tcPr>
                </a:tc>
                <a:tc>
                  <a:txBody>
                    <a:bodyPr/>
                    <a:lstStyle/>
                    <a:p>
                      <a:pPr algn="l"/>
                      <a:r>
                        <a:rPr sz="1300">
                          <a:solidFill>
                            <a:srgbClr val="444455"/>
                          </a:solidFill>
                          <a:latin typeface="Calibri"/>
                        </a:rPr>
                        <a:t>SOTA 6-DoF; minimal per-object setup (CAD/reference images, no fine-tuning)</a:t>
                      </a:r>
                    </a:p>
                  </a:txBody>
                  <a:tcPr>
                    <a:solidFill>
                      <a:srgbClr val="E8F4FB"/>
                    </a:solidFill>
                  </a:tcPr>
                </a:tc>
                <a:extLst>
                  <a:ext uri="{0D108BD9-81ED-4DB2-BD59-A6C34878D82A}">
                    <a16:rowId xmlns:a16="http://schemas.microsoft.com/office/drawing/2014/main" val="10003"/>
                  </a:ext>
                </a:extLst>
              </a:tr>
              <a:tr h="364836">
                <a:tc>
                  <a:txBody>
                    <a:bodyPr/>
                    <a:lstStyle/>
                    <a:p>
                      <a:pPr algn="l"/>
                      <a:r>
                        <a:rPr sz="1300">
                          <a:solidFill>
                            <a:srgbClr val="444455"/>
                          </a:solidFill>
                          <a:latin typeface="Calibri"/>
                        </a:rPr>
                        <a:t>Synthetic Data</a:t>
                      </a:r>
                    </a:p>
                  </a:txBody>
                  <a:tcPr>
                    <a:solidFill>
                      <a:srgbClr val="F0F4F8"/>
                    </a:solidFill>
                  </a:tcPr>
                </a:tc>
                <a:tc>
                  <a:txBody>
                    <a:bodyPr/>
                    <a:lstStyle/>
                    <a:p>
                      <a:pPr algn="l"/>
                      <a:r>
                        <a:rPr sz="1300">
                          <a:solidFill>
                            <a:srgbClr val="444455"/>
                          </a:solidFill>
                          <a:latin typeface="Calibri"/>
                        </a:rPr>
                        <a:t>Omniverse Replicator</a:t>
                      </a:r>
                    </a:p>
                  </a:txBody>
                  <a:tcPr>
                    <a:solidFill>
                      <a:srgbClr val="F0F4F8"/>
                    </a:solidFill>
                  </a:tcPr>
                </a:tc>
                <a:tc>
                  <a:txBody>
                    <a:bodyPr/>
                    <a:lstStyle/>
                    <a:p>
                      <a:pPr algn="l"/>
                      <a:r>
                        <a:rPr sz="1300" dirty="0">
                          <a:solidFill>
                            <a:srgbClr val="444455"/>
                          </a:solidFill>
                          <a:latin typeface="Calibri"/>
                        </a:rPr>
                        <a:t>Bundled; unlimited domain-</a:t>
                      </a:r>
                      <a:r>
                        <a:rPr sz="1300" dirty="0" err="1">
                          <a:solidFill>
                            <a:srgbClr val="444455"/>
                          </a:solidFill>
                          <a:latin typeface="Calibri"/>
                        </a:rPr>
                        <a:t>randomised</a:t>
                      </a:r>
                      <a:r>
                        <a:rPr sz="1300" dirty="0">
                          <a:solidFill>
                            <a:srgbClr val="444455"/>
                          </a:solidFill>
                          <a:latin typeface="Calibri"/>
                        </a:rPr>
                        <a:t> data</a:t>
                      </a:r>
                    </a:p>
                  </a:txBody>
                  <a:tcPr>
                    <a:solidFill>
                      <a:srgbClr val="F0F4F8"/>
                    </a:solidFill>
                  </a:tcPr>
                </a:tc>
                <a:extLst>
                  <a:ext uri="{0D108BD9-81ED-4DB2-BD59-A6C34878D82A}">
                    <a16:rowId xmlns:a16="http://schemas.microsoft.com/office/drawing/2014/main" val="10004"/>
                  </a:ext>
                </a:extLst>
              </a:tr>
              <a:tr h="364836">
                <a:tc>
                  <a:txBody>
                    <a:bodyPr/>
                    <a:lstStyle/>
                    <a:p>
                      <a:pPr algn="l"/>
                      <a:r>
                        <a:rPr sz="1300">
                          <a:solidFill>
                            <a:srgbClr val="444455"/>
                          </a:solidFill>
                          <a:latin typeface="Calibri"/>
                        </a:rPr>
                        <a:t>Task Planner</a:t>
                      </a:r>
                    </a:p>
                  </a:txBody>
                  <a:tcPr>
                    <a:solidFill>
                      <a:srgbClr val="E8F4FB"/>
                    </a:solidFill>
                  </a:tcPr>
                </a:tc>
                <a:tc>
                  <a:txBody>
                    <a:bodyPr/>
                    <a:lstStyle/>
                    <a:p>
                      <a:pPr algn="l"/>
                      <a:r>
                        <a:rPr lang="en-US" sz="1300" b="1" dirty="0">
                          <a:solidFill>
                            <a:srgbClr val="444455"/>
                          </a:solidFill>
                          <a:latin typeface="Calibri"/>
                        </a:rPr>
                        <a:t>Custom</a:t>
                      </a:r>
                      <a:r>
                        <a:rPr sz="1300" b="1">
                          <a:solidFill>
                            <a:srgbClr val="444455"/>
                          </a:solidFill>
                          <a:latin typeface="Calibri"/>
                        </a:rPr>
                        <a:t> C++ PDDL A* + GA</a:t>
                      </a:r>
                    </a:p>
                  </a:txBody>
                  <a:tcPr>
                    <a:solidFill>
                      <a:srgbClr val="E8F4FB"/>
                    </a:solidFill>
                  </a:tcPr>
                </a:tc>
                <a:tc>
                  <a:txBody>
                    <a:bodyPr/>
                    <a:lstStyle/>
                    <a:p>
                      <a:pPr algn="l"/>
                      <a:r>
                        <a:rPr sz="1300" b="1">
                          <a:solidFill>
                            <a:srgbClr val="444455"/>
                          </a:solidFill>
                          <a:latin typeface="Calibri"/>
                        </a:rPr>
                        <a:t>Core technical contribution</a:t>
                      </a:r>
                    </a:p>
                  </a:txBody>
                  <a:tcPr>
                    <a:solidFill>
                      <a:srgbClr val="E8F4FB"/>
                    </a:solidFill>
                  </a:tcPr>
                </a:tc>
                <a:extLst>
                  <a:ext uri="{0D108BD9-81ED-4DB2-BD59-A6C34878D82A}">
                    <a16:rowId xmlns:a16="http://schemas.microsoft.com/office/drawing/2014/main" val="10005"/>
                  </a:ext>
                </a:extLst>
              </a:tr>
              <a:tr h="364836">
                <a:tc>
                  <a:txBody>
                    <a:bodyPr/>
                    <a:lstStyle/>
                    <a:p>
                      <a:pPr algn="l"/>
                      <a:r>
                        <a:rPr sz="1300">
                          <a:solidFill>
                            <a:srgbClr val="444455"/>
                          </a:solidFill>
                          <a:latin typeface="Calibri"/>
                        </a:rPr>
                        <a:t>LLM Interface</a:t>
                      </a:r>
                    </a:p>
                  </a:txBody>
                  <a:tcPr>
                    <a:solidFill>
                      <a:srgbClr val="F0F4F8"/>
                    </a:solidFill>
                  </a:tcPr>
                </a:tc>
                <a:tc>
                  <a:txBody>
                    <a:bodyPr/>
                    <a:lstStyle/>
                    <a:p>
                      <a:pPr algn="l"/>
                      <a:r>
                        <a:rPr sz="1300" dirty="0">
                          <a:solidFill>
                            <a:srgbClr val="444455"/>
                          </a:solidFill>
                          <a:latin typeface="Calibri"/>
                        </a:rPr>
                        <a:t>LLaMA-3:8b via </a:t>
                      </a:r>
                      <a:r>
                        <a:rPr sz="1300" dirty="0" err="1">
                          <a:solidFill>
                            <a:srgbClr val="444455"/>
                          </a:solidFill>
                          <a:latin typeface="Calibri"/>
                        </a:rPr>
                        <a:t>Ollama</a:t>
                      </a:r>
                    </a:p>
                  </a:txBody>
                  <a:tcPr>
                    <a:solidFill>
                      <a:srgbClr val="F0F4F8"/>
                    </a:solidFill>
                  </a:tcPr>
                </a:tc>
                <a:tc>
                  <a:txBody>
                    <a:bodyPr/>
                    <a:lstStyle/>
                    <a:p>
                      <a:pPr algn="l"/>
                      <a:r>
                        <a:rPr sz="1300">
                          <a:solidFill>
                            <a:srgbClr val="444455"/>
                          </a:solidFill>
                          <a:latin typeface="Calibri"/>
                        </a:rPr>
                        <a:t>Local; zero API cost; ~5–6GB VRAM (Q4_K_M + KV cache)</a:t>
                      </a:r>
                    </a:p>
                  </a:txBody>
                  <a:tcPr>
                    <a:solidFill>
                      <a:srgbClr val="F0F4F8"/>
                    </a:solidFill>
                  </a:tcPr>
                </a:tc>
                <a:extLst>
                  <a:ext uri="{0D108BD9-81ED-4DB2-BD59-A6C34878D82A}">
                    <a16:rowId xmlns:a16="http://schemas.microsoft.com/office/drawing/2014/main" val="10006"/>
                  </a:ext>
                </a:extLst>
              </a:tr>
              <a:tr h="364836">
                <a:tc>
                  <a:txBody>
                    <a:bodyPr/>
                    <a:lstStyle/>
                    <a:p>
                      <a:pPr algn="l"/>
                      <a:r>
                        <a:rPr sz="1300">
                          <a:solidFill>
                            <a:srgbClr val="444455"/>
                          </a:solidFill>
                          <a:latin typeface="Calibri"/>
                        </a:rPr>
                        <a:t>Middleware</a:t>
                      </a:r>
                    </a:p>
                  </a:txBody>
                  <a:tcPr>
                    <a:solidFill>
                      <a:srgbClr val="E8F4FB"/>
                    </a:solidFill>
                  </a:tcPr>
                </a:tc>
                <a:tc>
                  <a:txBody>
                    <a:bodyPr/>
                    <a:lstStyle/>
                    <a:p>
                      <a:pPr algn="l"/>
                      <a:r>
                        <a:rPr sz="1300" dirty="0">
                          <a:solidFill>
                            <a:srgbClr val="444455"/>
                          </a:solidFill>
                          <a:latin typeface="Calibri"/>
                        </a:rPr>
                        <a:t>ROS2 Jazzy + </a:t>
                      </a:r>
                      <a:r>
                        <a:rPr sz="1300" dirty="0" err="1">
                          <a:solidFill>
                            <a:srgbClr val="444455"/>
                          </a:solidFill>
                          <a:latin typeface="Calibri"/>
                        </a:rPr>
                        <a:t>FastAPI</a:t>
                      </a:r>
                    </a:p>
                  </a:txBody>
                  <a:tcPr>
                    <a:solidFill>
                      <a:srgbClr val="E8F4FB"/>
                    </a:solidFill>
                  </a:tcPr>
                </a:tc>
                <a:tc>
                  <a:txBody>
                    <a:bodyPr/>
                    <a:lstStyle/>
                    <a:p>
                      <a:pPr algn="l"/>
                      <a:r>
                        <a:rPr sz="1300">
                          <a:solidFill>
                            <a:srgbClr val="444455"/>
                          </a:solidFill>
                          <a:latin typeface="Calibri"/>
                        </a:rPr>
                        <a:t>Standard robotics bus</a:t>
                      </a:r>
                    </a:p>
                  </a:txBody>
                  <a:tcPr>
                    <a:solidFill>
                      <a:srgbClr val="E8F4FB"/>
                    </a:solidFill>
                  </a:tcPr>
                </a:tc>
                <a:extLst>
                  <a:ext uri="{0D108BD9-81ED-4DB2-BD59-A6C34878D82A}">
                    <a16:rowId xmlns:a16="http://schemas.microsoft.com/office/drawing/2014/main" val="10007"/>
                  </a:ext>
                </a:extLst>
              </a:tr>
              <a:tr h="364836">
                <a:tc>
                  <a:txBody>
                    <a:bodyPr/>
                    <a:lstStyle/>
                    <a:p>
                      <a:pPr algn="l"/>
                      <a:r>
                        <a:rPr sz="1300">
                          <a:solidFill>
                            <a:srgbClr val="444455"/>
                          </a:solidFill>
                          <a:latin typeface="Calibri"/>
                        </a:rPr>
                        <a:t>Knowledge Graph</a:t>
                      </a:r>
                    </a:p>
                  </a:txBody>
                  <a:tcPr>
                    <a:solidFill>
                      <a:srgbClr val="F0F4F8"/>
                    </a:solidFill>
                  </a:tcPr>
                </a:tc>
                <a:tc>
                  <a:txBody>
                    <a:bodyPr/>
                    <a:lstStyle/>
                    <a:p>
                      <a:pPr algn="l"/>
                      <a:r>
                        <a:rPr sz="1300" dirty="0" err="1">
                          <a:solidFill>
                            <a:srgbClr val="444455"/>
                          </a:solidFill>
                          <a:latin typeface="Calibri"/>
                        </a:rPr>
                        <a:t>NetworkX</a:t>
                      </a:r>
                    </a:p>
                  </a:txBody>
                  <a:tcPr>
                    <a:solidFill>
                      <a:srgbClr val="F0F4F8"/>
                    </a:solidFill>
                  </a:tcPr>
                </a:tc>
                <a:tc>
                  <a:txBody>
                    <a:bodyPr/>
                    <a:lstStyle/>
                    <a:p>
                      <a:pPr algn="l"/>
                      <a:r>
                        <a:rPr sz="1300">
                          <a:solidFill>
                            <a:srgbClr val="444455"/>
                          </a:solidFill>
                          <a:latin typeface="Calibri"/>
                        </a:rPr>
                        <a:t>Affordance encoding</a:t>
                      </a:r>
                    </a:p>
                  </a:txBody>
                  <a:tcPr>
                    <a:solidFill>
                      <a:srgbClr val="F0F4F8"/>
                    </a:solidFill>
                  </a:tcPr>
                </a:tc>
                <a:extLst>
                  <a:ext uri="{0D108BD9-81ED-4DB2-BD59-A6C34878D82A}">
                    <a16:rowId xmlns:a16="http://schemas.microsoft.com/office/drawing/2014/main" val="10008"/>
                  </a:ext>
                </a:extLst>
              </a:tr>
              <a:tr h="364836">
                <a:tc>
                  <a:txBody>
                    <a:bodyPr/>
                    <a:lstStyle/>
                    <a:p>
                      <a:pPr algn="l"/>
                      <a:r>
                        <a:rPr sz="1300">
                          <a:solidFill>
                            <a:srgbClr val="444455"/>
                          </a:solidFill>
                          <a:latin typeface="Calibri"/>
                        </a:rPr>
                        <a:t>Web UI</a:t>
                      </a:r>
                    </a:p>
                  </a:txBody>
                  <a:tcPr>
                    <a:solidFill>
                      <a:srgbClr val="E8F4FB"/>
                    </a:solidFill>
                  </a:tcPr>
                </a:tc>
                <a:tc>
                  <a:txBody>
                    <a:bodyPr/>
                    <a:lstStyle/>
                    <a:p>
                      <a:pPr algn="l"/>
                      <a:r>
                        <a:rPr sz="1300">
                          <a:solidFill>
                            <a:srgbClr val="444455"/>
                          </a:solidFill>
                          <a:latin typeface="Calibri"/>
                        </a:rPr>
                        <a:t>React + Three.js + D3.js</a:t>
                      </a:r>
                    </a:p>
                  </a:txBody>
                  <a:tcPr>
                    <a:solidFill>
                      <a:srgbClr val="E8F4FB"/>
                    </a:solidFill>
                  </a:tcPr>
                </a:tc>
                <a:tc>
                  <a:txBody>
                    <a:bodyPr/>
                    <a:lstStyle/>
                    <a:p>
                      <a:pPr algn="l"/>
                      <a:r>
                        <a:rPr sz="1300">
                          <a:solidFill>
                            <a:srgbClr val="444455"/>
                          </a:solidFill>
                          <a:latin typeface="Calibri"/>
                        </a:rPr>
                        <a:t>3D viewer + plan timeline</a:t>
                      </a:r>
                    </a:p>
                  </a:txBody>
                  <a:tcPr>
                    <a:solidFill>
                      <a:srgbClr val="E8F4FB"/>
                    </a:solidFill>
                  </a:tcPr>
                </a:tc>
                <a:extLst>
                  <a:ext uri="{0D108BD9-81ED-4DB2-BD59-A6C34878D82A}">
                    <a16:rowId xmlns:a16="http://schemas.microsoft.com/office/drawing/2014/main" val="10009"/>
                  </a:ext>
                </a:extLst>
              </a:tr>
              <a:tr h="364840">
                <a:tc>
                  <a:txBody>
                    <a:bodyPr/>
                    <a:lstStyle/>
                    <a:p>
                      <a:pPr algn="l"/>
                      <a:r>
                        <a:rPr sz="1300">
                          <a:solidFill>
                            <a:srgbClr val="444455"/>
                          </a:solidFill>
                          <a:latin typeface="Calibri"/>
                        </a:rPr>
                        <a:t>Build</a:t>
                      </a:r>
                    </a:p>
                  </a:txBody>
                  <a:tcPr>
                    <a:solidFill>
                      <a:srgbClr val="F0F4F8"/>
                    </a:solidFill>
                  </a:tcPr>
                </a:tc>
                <a:tc>
                  <a:txBody>
                    <a:bodyPr/>
                    <a:lstStyle/>
                    <a:p>
                      <a:pPr algn="l"/>
                      <a:r>
                        <a:rPr sz="1300" dirty="0" err="1">
                          <a:solidFill>
                            <a:srgbClr val="444455"/>
                          </a:solidFill>
                          <a:latin typeface="Calibri"/>
                        </a:rPr>
                        <a:t>CMake</a:t>
                      </a:r>
                      <a:r>
                        <a:rPr sz="1300" dirty="0">
                          <a:solidFill>
                            <a:srgbClr val="444455"/>
                          </a:solidFill>
                          <a:latin typeface="Calibri"/>
                        </a:rPr>
                        <a:t> 3.20 + GCC 12 + C++17</a:t>
                      </a:r>
                    </a:p>
                  </a:txBody>
                  <a:tcPr>
                    <a:solidFill>
                      <a:srgbClr val="F0F4F8"/>
                    </a:solidFill>
                  </a:tcPr>
                </a:tc>
                <a:tc>
                  <a:txBody>
                    <a:bodyPr/>
                    <a:lstStyle/>
                    <a:p>
                      <a:pPr algn="l"/>
                      <a:r>
                        <a:rPr sz="1300">
                          <a:solidFill>
                            <a:srgbClr val="444455"/>
                          </a:solidFill>
                          <a:latin typeface="Calibri"/>
                        </a:rPr>
                        <a:t>—</a:t>
                      </a:r>
                    </a:p>
                  </a:txBody>
                  <a:tcPr>
                    <a:solidFill>
                      <a:srgbClr val="F0F4F8"/>
                    </a:solidFill>
                  </a:tcPr>
                </a:tc>
                <a:extLst>
                  <a:ext uri="{0D108BD9-81ED-4DB2-BD59-A6C34878D82A}">
                    <a16:rowId xmlns:a16="http://schemas.microsoft.com/office/drawing/2014/main" val="10010"/>
                  </a:ext>
                </a:extLst>
              </a:tr>
            </a:tbl>
          </a:graphicData>
        </a:graphic>
      </p:graphicFrame>
      <p:sp>
        <p:nvSpPr>
          <p:cNvPr id="9" name="TextBox 8"/>
          <p:cNvSpPr txBox="1"/>
          <p:nvPr/>
        </p:nvSpPr>
        <p:spPr>
          <a:xfrm>
            <a:off x="358201" y="5701595"/>
            <a:ext cx="11430000" cy="330200"/>
          </a:xfrm>
          <a:prstGeom prst="rect">
            <a:avLst/>
          </a:prstGeom>
          <a:noFill/>
        </p:spPr>
        <p:txBody>
          <a:bodyPr wrap="square">
            <a:spAutoFit/>
          </a:bodyPr>
          <a:lstStyle/>
          <a:p>
            <a:pPr algn="l"/>
            <a:r>
              <a:rPr sz="1500" b="1" i="0">
                <a:solidFill>
                  <a:srgbClr val="1B275E"/>
                </a:solidFill>
                <a:latin typeface="Calibri"/>
              </a:rPr>
              <a:t>Hardware: Ryzen 9700X, 64GB RAM, RTX 5070 Ti 16GB VRAM</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0"/>
            <a:ext cx="12188952" cy="1051560"/>
          </a:xfrm>
          <a:prstGeom prst="rect">
            <a:avLst/>
          </a:prstGeom>
          <a:solidFill>
            <a:srgbClr val="1B27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1000760"/>
            <a:ext cx="12188952" cy="50800"/>
          </a:xfrm>
          <a:prstGeom prst="rect">
            <a:avLst/>
          </a:prstGeom>
          <a:solidFill>
            <a:srgbClr val="008B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65760" y="73152"/>
            <a:ext cx="11430000" cy="594360"/>
          </a:xfrm>
          <a:prstGeom prst="rect">
            <a:avLst/>
          </a:prstGeom>
          <a:noFill/>
        </p:spPr>
        <p:txBody>
          <a:bodyPr wrap="square">
            <a:spAutoFit/>
          </a:bodyPr>
          <a:lstStyle/>
          <a:p>
            <a:pPr algn="l"/>
            <a:r>
              <a:rPr sz="3000" b="1" i="0">
                <a:solidFill>
                  <a:srgbClr val="FFFFFF"/>
                </a:solidFill>
                <a:latin typeface="Calibri"/>
              </a:rPr>
              <a:t>Benchmark &amp; Evaluation</a:t>
            </a:r>
          </a:p>
        </p:txBody>
      </p:sp>
      <p:sp>
        <p:nvSpPr>
          <p:cNvPr id="6" name="TextBox 5"/>
          <p:cNvSpPr txBox="1"/>
          <p:nvPr/>
        </p:nvSpPr>
        <p:spPr>
          <a:xfrm>
            <a:off x="365760" y="658368"/>
            <a:ext cx="11430000" cy="347472"/>
          </a:xfrm>
          <a:prstGeom prst="rect">
            <a:avLst/>
          </a:prstGeom>
          <a:noFill/>
        </p:spPr>
        <p:txBody>
          <a:bodyPr wrap="square" lIns="91440" tIns="45720" rIns="91440" bIns="45720" anchor="t">
            <a:spAutoFit/>
          </a:bodyPr>
          <a:lstStyle/>
          <a:p>
            <a:r>
              <a:rPr sz="1500" i="1">
                <a:solidFill>
                  <a:schemeClr val="bg1"/>
                </a:solidFill>
                <a:latin typeface="Calibri"/>
              </a:rPr>
              <a:t>3 Benchmark Tasks + Failure Injection</a:t>
            </a:r>
          </a:p>
        </p:txBody>
      </p:sp>
      <p:sp>
        <p:nvSpPr>
          <p:cNvPr id="7" name="Rectangle 6"/>
          <p:cNvSpPr/>
          <p:nvPr/>
        </p:nvSpPr>
        <p:spPr>
          <a:xfrm>
            <a:off x="0" y="6693408"/>
            <a:ext cx="12188952" cy="164592"/>
          </a:xfrm>
          <a:prstGeom prst="rect">
            <a:avLst/>
          </a:prstGeom>
          <a:solidFill>
            <a:srgbClr val="1B27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8" name="Table 7"/>
          <p:cNvGraphicFramePr>
            <a:graphicFrameLocks noGrp="1"/>
          </p:cNvGraphicFramePr>
          <p:nvPr/>
        </p:nvGraphicFramePr>
        <p:xfrm>
          <a:off x="365760" y="1188720"/>
          <a:ext cx="11430000" cy="1524000"/>
        </p:xfrm>
        <a:graphic>
          <a:graphicData uri="http://schemas.openxmlformats.org/drawingml/2006/table">
            <a:tbl>
              <a:tblPr firstRow="1" bandRow="1">
                <a:tableStyleId>{5C22544A-7EE6-4342-B048-85BDC9FD1C3A}</a:tableStyleId>
              </a:tblPr>
              <a:tblGrid>
                <a:gridCol w="3810000">
                  <a:extLst>
                    <a:ext uri="{9D8B030D-6E8A-4147-A177-3AD203B41FA5}">
                      <a16:colId xmlns:a16="http://schemas.microsoft.com/office/drawing/2014/main" val="20000"/>
                    </a:ext>
                  </a:extLst>
                </a:gridCol>
                <a:gridCol w="3810000">
                  <a:extLst>
                    <a:ext uri="{9D8B030D-6E8A-4147-A177-3AD203B41FA5}">
                      <a16:colId xmlns:a16="http://schemas.microsoft.com/office/drawing/2014/main" val="20001"/>
                    </a:ext>
                  </a:extLst>
                </a:gridCol>
                <a:gridCol w="3810000">
                  <a:extLst>
                    <a:ext uri="{9D8B030D-6E8A-4147-A177-3AD203B41FA5}">
                      <a16:colId xmlns:a16="http://schemas.microsoft.com/office/drawing/2014/main" val="20002"/>
                    </a:ext>
                  </a:extLst>
                </a:gridCol>
              </a:tblGrid>
              <a:tr h="381000">
                <a:tc>
                  <a:txBody>
                    <a:bodyPr/>
                    <a:lstStyle/>
                    <a:p>
                      <a:pPr algn="l"/>
                      <a:r>
                        <a:rPr sz="1300" b="1">
                          <a:solidFill>
                            <a:srgbClr val="FFFFFF"/>
                          </a:solidFill>
                          <a:latin typeface="Calibri"/>
                        </a:rPr>
                        <a:t>Task</a:t>
                      </a:r>
                    </a:p>
                  </a:txBody>
                  <a:tcPr>
                    <a:solidFill>
                      <a:srgbClr val="1B275E"/>
                    </a:solidFill>
                  </a:tcPr>
                </a:tc>
                <a:tc>
                  <a:txBody>
                    <a:bodyPr/>
                    <a:lstStyle/>
                    <a:p>
                      <a:pPr algn="l"/>
                      <a:r>
                        <a:rPr sz="1300" b="1">
                          <a:solidFill>
                            <a:srgbClr val="FFFFFF"/>
                          </a:solidFill>
                          <a:latin typeface="Calibri"/>
                        </a:rPr>
                        <a:t>NL Command</a:t>
                      </a:r>
                    </a:p>
                  </a:txBody>
                  <a:tcPr>
                    <a:solidFill>
                      <a:srgbClr val="1B275E"/>
                    </a:solidFill>
                  </a:tcPr>
                </a:tc>
                <a:tc>
                  <a:txBody>
                    <a:bodyPr/>
                    <a:lstStyle/>
                    <a:p>
                      <a:pPr algn="l"/>
                      <a:r>
                        <a:rPr sz="1300" b="1">
                          <a:solidFill>
                            <a:srgbClr val="FFFFFF"/>
                          </a:solidFill>
                          <a:latin typeface="Calibri"/>
                        </a:rPr>
                        <a:t>Success Criterion</a:t>
                      </a:r>
                    </a:p>
                  </a:txBody>
                  <a:tcPr>
                    <a:solidFill>
                      <a:srgbClr val="1B275E"/>
                    </a:solidFill>
                  </a:tcPr>
                </a:tc>
                <a:extLst>
                  <a:ext uri="{0D108BD9-81ED-4DB2-BD59-A6C34878D82A}">
                    <a16:rowId xmlns:a16="http://schemas.microsoft.com/office/drawing/2014/main" val="10000"/>
                  </a:ext>
                </a:extLst>
              </a:tr>
              <a:tr h="381000">
                <a:tc>
                  <a:txBody>
                    <a:bodyPr/>
                    <a:lstStyle/>
                    <a:p>
                      <a:pPr algn="l"/>
                      <a:r>
                        <a:rPr sz="1300">
                          <a:solidFill>
                            <a:srgbClr val="444455"/>
                          </a:solidFill>
                          <a:latin typeface="Calibri"/>
                        </a:rPr>
                        <a:t>T1 — Pick &amp; Place</a:t>
                      </a:r>
                    </a:p>
                  </a:txBody>
                  <a:tcPr>
                    <a:solidFill>
                      <a:srgbClr val="E8F4FB"/>
                    </a:solidFill>
                  </a:tcPr>
                </a:tc>
                <a:tc>
                  <a:txBody>
                    <a:bodyPr/>
                    <a:lstStyle/>
                    <a:p>
                      <a:pPr algn="l"/>
                      <a:r>
                        <a:rPr sz="1300">
                          <a:solidFill>
                            <a:srgbClr val="444455"/>
                          </a:solidFill>
                          <a:latin typeface="Calibri"/>
                        </a:rPr>
                        <a:t>"Move the red cube to the green zone"</a:t>
                      </a:r>
                    </a:p>
                  </a:txBody>
                  <a:tcPr>
                    <a:solidFill>
                      <a:srgbClr val="E8F4FB"/>
                    </a:solidFill>
                  </a:tcPr>
                </a:tc>
                <a:tc>
                  <a:txBody>
                    <a:bodyPr/>
                    <a:lstStyle/>
                    <a:p>
                      <a:pPr algn="l"/>
                      <a:r>
                        <a:rPr sz="1300">
                          <a:solidFill>
                            <a:srgbClr val="444455"/>
                          </a:solidFill>
                          <a:latin typeface="Calibri"/>
                        </a:rPr>
                        <a:t>Object at target ± 2cm, no collision</a:t>
                      </a:r>
                    </a:p>
                  </a:txBody>
                  <a:tcPr>
                    <a:solidFill>
                      <a:srgbClr val="E8F4FB"/>
                    </a:solidFill>
                  </a:tcPr>
                </a:tc>
                <a:extLst>
                  <a:ext uri="{0D108BD9-81ED-4DB2-BD59-A6C34878D82A}">
                    <a16:rowId xmlns:a16="http://schemas.microsoft.com/office/drawing/2014/main" val="10001"/>
                  </a:ext>
                </a:extLst>
              </a:tr>
              <a:tr h="381000">
                <a:tc>
                  <a:txBody>
                    <a:bodyPr/>
                    <a:lstStyle/>
                    <a:p>
                      <a:pPr algn="l"/>
                      <a:r>
                        <a:rPr sz="1300">
                          <a:solidFill>
                            <a:srgbClr val="444455"/>
                          </a:solidFill>
                          <a:latin typeface="Calibri"/>
                        </a:rPr>
                        <a:t>T2 — Stacking</a:t>
                      </a:r>
                    </a:p>
                  </a:txBody>
                  <a:tcPr>
                    <a:solidFill>
                      <a:srgbClr val="F0F4F8"/>
                    </a:solidFill>
                  </a:tcPr>
                </a:tc>
                <a:tc>
                  <a:txBody>
                    <a:bodyPr/>
                    <a:lstStyle/>
                    <a:p>
                      <a:pPr algn="l"/>
                      <a:r>
                        <a:rPr sz="1300">
                          <a:solidFill>
                            <a:srgbClr val="444455"/>
                          </a:solidFill>
                          <a:latin typeface="Calibri"/>
                        </a:rPr>
                        <a:t>"Stack the blue cylinder on the yellow block"</a:t>
                      </a:r>
                    </a:p>
                  </a:txBody>
                  <a:tcPr>
                    <a:solidFill>
                      <a:srgbClr val="F0F4F8"/>
                    </a:solidFill>
                  </a:tcPr>
                </a:tc>
                <a:tc>
                  <a:txBody>
                    <a:bodyPr/>
                    <a:lstStyle/>
                    <a:p>
                      <a:pPr algn="l"/>
                      <a:r>
                        <a:rPr sz="1300">
                          <a:solidFill>
                            <a:srgbClr val="444455"/>
                          </a:solidFill>
                          <a:latin typeface="Calibri"/>
                        </a:rPr>
                        <a:t>Stable stack, no topple within 5s</a:t>
                      </a:r>
                    </a:p>
                  </a:txBody>
                  <a:tcPr>
                    <a:solidFill>
                      <a:srgbClr val="F0F4F8"/>
                    </a:solidFill>
                  </a:tcPr>
                </a:tc>
                <a:extLst>
                  <a:ext uri="{0D108BD9-81ED-4DB2-BD59-A6C34878D82A}">
                    <a16:rowId xmlns:a16="http://schemas.microsoft.com/office/drawing/2014/main" val="10002"/>
                  </a:ext>
                </a:extLst>
              </a:tr>
              <a:tr h="381000">
                <a:tc>
                  <a:txBody>
                    <a:bodyPr/>
                    <a:lstStyle/>
                    <a:p>
                      <a:pPr algn="l"/>
                      <a:r>
                        <a:rPr sz="1300">
                          <a:solidFill>
                            <a:srgbClr val="444455"/>
                          </a:solidFill>
                          <a:latin typeface="Calibri"/>
                        </a:rPr>
                        <a:t>T3 — Conditional Sort</a:t>
                      </a:r>
                    </a:p>
                  </a:txBody>
                  <a:tcPr>
                    <a:solidFill>
                      <a:srgbClr val="E8F4FB"/>
                    </a:solidFill>
                  </a:tcPr>
                </a:tc>
                <a:tc>
                  <a:txBody>
                    <a:bodyPr/>
                    <a:lstStyle/>
                    <a:p>
                      <a:pPr algn="l"/>
                      <a:r>
                        <a:rPr sz="1300">
                          <a:solidFill>
                            <a:srgbClr val="444455"/>
                          </a:solidFill>
                          <a:latin typeface="Calibri"/>
                        </a:rPr>
                        <a:t>"Separate fragile objects from heavy ones"</a:t>
                      </a:r>
                    </a:p>
                  </a:txBody>
                  <a:tcPr>
                    <a:solidFill>
                      <a:srgbClr val="E8F4FB"/>
                    </a:solidFill>
                  </a:tcPr>
                </a:tc>
                <a:tc>
                  <a:txBody>
                    <a:bodyPr/>
                    <a:lstStyle/>
                    <a:p>
                      <a:pPr algn="l"/>
                      <a:r>
                        <a:rPr sz="1300">
                          <a:solidFill>
                            <a:srgbClr val="444455"/>
                          </a:solidFill>
                          <a:latin typeface="Calibri"/>
                        </a:rPr>
                        <a:t>All fragile→safe-zone, all heavy→staging</a:t>
                      </a:r>
                    </a:p>
                  </a:txBody>
                  <a:tcPr>
                    <a:solidFill>
                      <a:srgbClr val="E8F4FB"/>
                    </a:solidFill>
                  </a:tcPr>
                </a:tc>
                <a:extLst>
                  <a:ext uri="{0D108BD9-81ED-4DB2-BD59-A6C34878D82A}">
                    <a16:rowId xmlns:a16="http://schemas.microsoft.com/office/drawing/2014/main" val="10003"/>
                  </a:ext>
                </a:extLst>
              </a:tr>
            </a:tbl>
          </a:graphicData>
        </a:graphic>
      </p:graphicFrame>
      <p:sp>
        <p:nvSpPr>
          <p:cNvPr id="9" name="TextBox 8"/>
          <p:cNvSpPr txBox="1"/>
          <p:nvPr/>
        </p:nvSpPr>
        <p:spPr>
          <a:xfrm>
            <a:off x="365760" y="2788920"/>
            <a:ext cx="11430000" cy="330200"/>
          </a:xfrm>
          <a:prstGeom prst="rect">
            <a:avLst/>
          </a:prstGeom>
          <a:noFill/>
        </p:spPr>
        <p:txBody>
          <a:bodyPr wrap="square">
            <a:spAutoFit/>
          </a:bodyPr>
          <a:lstStyle/>
          <a:p>
            <a:pPr algn="l"/>
            <a:r>
              <a:rPr sz="1500" b="1" i="0">
                <a:solidFill>
                  <a:srgbClr val="1B275E"/>
                </a:solidFill>
                <a:latin typeface="Calibri"/>
              </a:rPr>
              <a:t>Failure Injection Tests:</a:t>
            </a:r>
          </a:p>
        </p:txBody>
      </p:sp>
      <p:sp>
        <p:nvSpPr>
          <p:cNvPr id="10" name="TextBox 9"/>
          <p:cNvSpPr txBox="1"/>
          <p:nvPr/>
        </p:nvSpPr>
        <p:spPr>
          <a:xfrm>
            <a:off x="365760" y="3144520"/>
            <a:ext cx="11430000" cy="962025"/>
          </a:xfrm>
          <a:prstGeom prst="rect">
            <a:avLst/>
          </a:prstGeom>
          <a:noFill/>
        </p:spPr>
        <p:txBody>
          <a:bodyPr wrap="square">
            <a:spAutoFit/>
          </a:bodyPr>
          <a:lstStyle/>
          <a:p>
            <a:r>
              <a:rPr sz="1500">
                <a:solidFill>
                  <a:srgbClr val="444455"/>
                </a:solidFill>
                <a:latin typeface="Calibri"/>
              </a:rPr>
              <a:t>• Object slips mid-grasp → monitor detects → replan triggered</a:t>
            </a:r>
          </a:p>
          <a:p>
            <a:r>
              <a:rPr sz="1500">
                <a:solidFill>
                  <a:srgbClr val="444455"/>
                </a:solidFill>
                <a:latin typeface="Calibri"/>
              </a:rPr>
              <a:t>• Object disappears (simulated occlusion) → object_not_found → replan</a:t>
            </a:r>
          </a:p>
          <a:p>
            <a:r>
              <a:rPr sz="1500">
                <a:solidFill>
                  <a:srgbClr val="444455"/>
                </a:solidFill>
                <a:latin typeface="Calibri"/>
              </a:rPr>
              <a:t>• Gripper joint limit violation → grasp_failure → alternative grasp attempted</a:t>
            </a:r>
          </a:p>
        </p:txBody>
      </p:sp>
      <p:sp>
        <p:nvSpPr>
          <p:cNvPr id="11" name="TextBox 10"/>
          <p:cNvSpPr txBox="1"/>
          <p:nvPr/>
        </p:nvSpPr>
        <p:spPr>
          <a:xfrm>
            <a:off x="365760" y="4157345"/>
            <a:ext cx="11430000" cy="330200"/>
          </a:xfrm>
          <a:prstGeom prst="rect">
            <a:avLst/>
          </a:prstGeom>
          <a:noFill/>
        </p:spPr>
        <p:txBody>
          <a:bodyPr wrap="square">
            <a:spAutoFit/>
          </a:bodyPr>
          <a:lstStyle/>
          <a:p>
            <a:pPr algn="l"/>
            <a:r>
              <a:rPr sz="1500" b="1" i="0">
                <a:solidFill>
                  <a:srgbClr val="1B275E"/>
                </a:solidFill>
                <a:latin typeface="Calibri"/>
              </a:rPr>
              <a:t>Metrics:</a:t>
            </a:r>
          </a:p>
        </p:txBody>
      </p:sp>
      <p:sp>
        <p:nvSpPr>
          <p:cNvPr id="12" name="TextBox 11"/>
          <p:cNvSpPr txBox="1"/>
          <p:nvPr/>
        </p:nvSpPr>
        <p:spPr>
          <a:xfrm>
            <a:off x="365760" y="4512945"/>
            <a:ext cx="11430000" cy="1257300"/>
          </a:xfrm>
          <a:prstGeom prst="rect">
            <a:avLst/>
          </a:prstGeom>
          <a:noFill/>
        </p:spPr>
        <p:txBody>
          <a:bodyPr wrap="square">
            <a:spAutoFit/>
          </a:bodyPr>
          <a:lstStyle/>
          <a:p>
            <a:r>
              <a:rPr sz="1500">
                <a:solidFill>
                  <a:srgbClr val="444455"/>
                </a:solidFill>
                <a:latin typeface="Calibri"/>
              </a:rPr>
              <a:t>• Task success rate (%)</a:t>
            </a:r>
          </a:p>
          <a:p>
            <a:r>
              <a:rPr sz="1500">
                <a:solidFill>
                  <a:srgbClr val="444455"/>
                </a:solidFill>
                <a:latin typeface="Calibri"/>
              </a:rPr>
              <a:t>• Plan generation time (ms)</a:t>
            </a:r>
          </a:p>
          <a:p>
            <a:r>
              <a:rPr sz="1500">
                <a:solidFill>
                  <a:srgbClr val="444455"/>
                </a:solidFill>
                <a:latin typeface="Calibri"/>
              </a:rPr>
              <a:t>• Replanning frequency per episode</a:t>
            </a:r>
          </a:p>
          <a:p>
            <a:r>
              <a:rPr sz="1500">
                <a:solidFill>
                  <a:srgbClr val="444455"/>
                </a:solidFill>
                <a:latin typeface="Calibri"/>
              </a:rPr>
              <a:t>• cuMotion trajectory optimisation time (ms)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0"/>
            <a:ext cx="12188952" cy="1051560"/>
          </a:xfrm>
          <a:prstGeom prst="rect">
            <a:avLst/>
          </a:prstGeom>
          <a:solidFill>
            <a:srgbClr val="1B27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1000760"/>
            <a:ext cx="12188952" cy="50800"/>
          </a:xfrm>
          <a:prstGeom prst="rect">
            <a:avLst/>
          </a:prstGeom>
          <a:solidFill>
            <a:srgbClr val="008B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65760" y="73152"/>
            <a:ext cx="11430000" cy="594360"/>
          </a:xfrm>
          <a:prstGeom prst="rect">
            <a:avLst/>
          </a:prstGeom>
          <a:noFill/>
        </p:spPr>
        <p:txBody>
          <a:bodyPr wrap="square">
            <a:spAutoFit/>
          </a:bodyPr>
          <a:lstStyle/>
          <a:p>
            <a:pPr algn="l"/>
            <a:r>
              <a:rPr sz="3000" b="1" i="0">
                <a:solidFill>
                  <a:srgbClr val="FFFFFF"/>
                </a:solidFill>
                <a:latin typeface="Calibri"/>
              </a:rPr>
              <a:t>Timeline &amp; Current Status</a:t>
            </a:r>
          </a:p>
        </p:txBody>
      </p:sp>
      <p:sp>
        <p:nvSpPr>
          <p:cNvPr id="6" name="TextBox 5"/>
          <p:cNvSpPr txBox="1"/>
          <p:nvPr/>
        </p:nvSpPr>
        <p:spPr>
          <a:xfrm>
            <a:off x="365760" y="658368"/>
            <a:ext cx="11430000" cy="347472"/>
          </a:xfrm>
          <a:prstGeom prst="rect">
            <a:avLst/>
          </a:prstGeom>
          <a:noFill/>
        </p:spPr>
        <p:txBody>
          <a:bodyPr wrap="square" lIns="91440" tIns="45720" rIns="91440" bIns="45720" anchor="t">
            <a:spAutoFit/>
          </a:bodyPr>
          <a:lstStyle/>
          <a:p>
            <a:r>
              <a:rPr sz="1500" i="1">
                <a:solidFill>
                  <a:schemeClr val="bg1"/>
                </a:solidFill>
                <a:latin typeface="Calibri"/>
              </a:rPr>
              <a:t>Project Schedule</a:t>
            </a:r>
          </a:p>
        </p:txBody>
      </p:sp>
      <p:sp>
        <p:nvSpPr>
          <p:cNvPr id="7" name="Rectangle 6"/>
          <p:cNvSpPr/>
          <p:nvPr/>
        </p:nvSpPr>
        <p:spPr>
          <a:xfrm>
            <a:off x="0" y="6693408"/>
            <a:ext cx="12188952" cy="164592"/>
          </a:xfrm>
          <a:prstGeom prst="rect">
            <a:avLst/>
          </a:prstGeom>
          <a:solidFill>
            <a:srgbClr val="1B27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8" name="Table 7"/>
          <p:cNvGraphicFramePr>
            <a:graphicFrameLocks noGrp="1"/>
          </p:cNvGraphicFramePr>
          <p:nvPr>
            <p:extLst>
              <p:ext uri="{D42A27DB-BD31-4B8C-83A1-F6EECF244321}">
                <p14:modId xmlns:p14="http://schemas.microsoft.com/office/powerpoint/2010/main" val="2002549914"/>
              </p:ext>
            </p:extLst>
          </p:nvPr>
        </p:nvGraphicFramePr>
        <p:xfrm>
          <a:off x="365760" y="1188720"/>
          <a:ext cx="11430000" cy="4026744"/>
        </p:xfrm>
        <a:graphic>
          <a:graphicData uri="http://schemas.openxmlformats.org/drawingml/2006/table">
            <a:tbl>
              <a:tblPr firstRow="1" bandRow="1">
                <a:tableStyleId>{5C22544A-7EE6-4342-B048-85BDC9FD1C3A}</a:tableStyleId>
              </a:tblPr>
              <a:tblGrid>
                <a:gridCol w="2857500">
                  <a:extLst>
                    <a:ext uri="{9D8B030D-6E8A-4147-A177-3AD203B41FA5}">
                      <a16:colId xmlns:a16="http://schemas.microsoft.com/office/drawing/2014/main" val="20000"/>
                    </a:ext>
                  </a:extLst>
                </a:gridCol>
                <a:gridCol w="2857500">
                  <a:extLst>
                    <a:ext uri="{9D8B030D-6E8A-4147-A177-3AD203B41FA5}">
                      <a16:colId xmlns:a16="http://schemas.microsoft.com/office/drawing/2014/main" val="20001"/>
                    </a:ext>
                  </a:extLst>
                </a:gridCol>
                <a:gridCol w="2857500">
                  <a:extLst>
                    <a:ext uri="{9D8B030D-6E8A-4147-A177-3AD203B41FA5}">
                      <a16:colId xmlns:a16="http://schemas.microsoft.com/office/drawing/2014/main" val="20002"/>
                    </a:ext>
                  </a:extLst>
                </a:gridCol>
                <a:gridCol w="2857500">
                  <a:extLst>
                    <a:ext uri="{9D8B030D-6E8A-4147-A177-3AD203B41FA5}">
                      <a16:colId xmlns:a16="http://schemas.microsoft.com/office/drawing/2014/main" val="20003"/>
                    </a:ext>
                  </a:extLst>
                </a:gridCol>
              </a:tblGrid>
              <a:tr h="366888">
                <a:tc>
                  <a:txBody>
                    <a:bodyPr/>
                    <a:lstStyle/>
                    <a:p>
                      <a:pPr algn="l"/>
                      <a:r>
                        <a:rPr sz="1300" b="1">
                          <a:solidFill>
                            <a:srgbClr val="FFFFFF"/>
                          </a:solidFill>
                          <a:latin typeface="Calibri"/>
                        </a:rPr>
                        <a:t>Week</a:t>
                      </a:r>
                    </a:p>
                  </a:txBody>
                  <a:tcPr>
                    <a:solidFill>
                      <a:srgbClr val="1B275E"/>
                    </a:solidFill>
                  </a:tcPr>
                </a:tc>
                <a:tc>
                  <a:txBody>
                    <a:bodyPr/>
                    <a:lstStyle/>
                    <a:p>
                      <a:pPr algn="l"/>
                      <a:r>
                        <a:rPr sz="1300" b="1">
                          <a:solidFill>
                            <a:srgbClr val="FFFFFF"/>
                          </a:solidFill>
                          <a:latin typeface="Calibri"/>
                        </a:rPr>
                        <a:t>Dates</a:t>
                      </a:r>
                    </a:p>
                  </a:txBody>
                  <a:tcPr>
                    <a:solidFill>
                      <a:srgbClr val="1B275E"/>
                    </a:solidFill>
                  </a:tcPr>
                </a:tc>
                <a:tc>
                  <a:txBody>
                    <a:bodyPr/>
                    <a:lstStyle/>
                    <a:p>
                      <a:pPr algn="l"/>
                      <a:r>
                        <a:rPr sz="1300" b="1">
                          <a:solidFill>
                            <a:srgbClr val="FFFFFF"/>
                          </a:solidFill>
                          <a:latin typeface="Calibri"/>
                        </a:rPr>
                        <a:t>Milestone</a:t>
                      </a:r>
                    </a:p>
                  </a:txBody>
                  <a:tcPr>
                    <a:solidFill>
                      <a:srgbClr val="1B275E"/>
                    </a:solidFill>
                  </a:tcPr>
                </a:tc>
                <a:tc>
                  <a:txBody>
                    <a:bodyPr/>
                    <a:lstStyle/>
                    <a:p>
                      <a:pPr algn="l"/>
                      <a:r>
                        <a:rPr sz="1300" b="1">
                          <a:solidFill>
                            <a:srgbClr val="FFFFFF"/>
                          </a:solidFill>
                          <a:latin typeface="Calibri"/>
                        </a:rPr>
                        <a:t>Status</a:t>
                      </a:r>
                    </a:p>
                  </a:txBody>
                  <a:tcPr>
                    <a:solidFill>
                      <a:srgbClr val="1B275E"/>
                    </a:solidFill>
                  </a:tcPr>
                </a:tc>
                <a:extLst>
                  <a:ext uri="{0D108BD9-81ED-4DB2-BD59-A6C34878D82A}">
                    <a16:rowId xmlns:a16="http://schemas.microsoft.com/office/drawing/2014/main" val="10000"/>
                  </a:ext>
                </a:extLst>
              </a:tr>
              <a:tr h="366888">
                <a:tc>
                  <a:txBody>
                    <a:bodyPr/>
                    <a:lstStyle/>
                    <a:p>
                      <a:pPr algn="l"/>
                      <a:r>
                        <a:rPr sz="1300" dirty="0" err="1">
                          <a:solidFill>
                            <a:srgbClr val="444455"/>
                          </a:solidFill>
                          <a:latin typeface="Calibri"/>
                        </a:rPr>
                        <a:t>Wk</a:t>
                      </a:r>
                      <a:r>
                        <a:rPr sz="1300" dirty="0">
                          <a:solidFill>
                            <a:srgbClr val="444455"/>
                          </a:solidFill>
                          <a:latin typeface="Calibri"/>
                        </a:rPr>
                        <a:t> 1</a:t>
                      </a:r>
                    </a:p>
                  </a:txBody>
                  <a:tcPr>
                    <a:solidFill>
                      <a:srgbClr val="E8F4FB"/>
                    </a:solidFill>
                  </a:tcPr>
                </a:tc>
                <a:tc>
                  <a:txBody>
                    <a:bodyPr/>
                    <a:lstStyle/>
                    <a:p>
                      <a:pPr algn="l"/>
                      <a:r>
                        <a:rPr sz="1300">
                          <a:solidFill>
                            <a:srgbClr val="444455"/>
                          </a:solidFill>
                          <a:latin typeface="Calibri"/>
                        </a:rPr>
                        <a:t>Mar 14–21</a:t>
                      </a:r>
                    </a:p>
                  </a:txBody>
                  <a:tcPr>
                    <a:solidFill>
                      <a:srgbClr val="E8F4FB"/>
                    </a:solidFill>
                  </a:tcPr>
                </a:tc>
                <a:tc>
                  <a:txBody>
                    <a:bodyPr/>
                    <a:lstStyle/>
                    <a:p>
                      <a:pPr algn="l"/>
                      <a:r>
                        <a:rPr sz="1300">
                          <a:solidFill>
                            <a:srgbClr val="444455"/>
                          </a:solidFill>
                          <a:latin typeface="Calibri"/>
                        </a:rPr>
                        <a:t>Repo setup, Isaac Sim install, PDDL domain design, C++ skeleton</a:t>
                      </a:r>
                    </a:p>
                  </a:txBody>
                  <a:tcPr>
                    <a:solidFill>
                      <a:srgbClr val="E8F4FB"/>
                    </a:solidFill>
                  </a:tcPr>
                </a:tc>
                <a:tc>
                  <a:txBody>
                    <a:bodyPr/>
                    <a:lstStyle/>
                    <a:p>
                      <a:pPr algn="l"/>
                      <a:r>
                        <a:rPr sz="1300">
                          <a:solidFill>
                            <a:srgbClr val="444455"/>
                          </a:solidFill>
                          <a:latin typeface="Calibri"/>
                        </a:rPr>
                        <a:t>✅ Done</a:t>
                      </a:r>
                    </a:p>
                  </a:txBody>
                  <a:tcPr>
                    <a:solidFill>
                      <a:srgbClr val="E8F4FB"/>
                    </a:solidFill>
                  </a:tcPr>
                </a:tc>
                <a:extLst>
                  <a:ext uri="{0D108BD9-81ED-4DB2-BD59-A6C34878D82A}">
                    <a16:rowId xmlns:a16="http://schemas.microsoft.com/office/drawing/2014/main" val="10001"/>
                  </a:ext>
                </a:extLst>
              </a:tr>
              <a:tr h="366888">
                <a:tc>
                  <a:txBody>
                    <a:bodyPr/>
                    <a:lstStyle/>
                    <a:p>
                      <a:pPr algn="l"/>
                      <a:r>
                        <a:rPr sz="1300" dirty="0" err="1">
                          <a:solidFill>
                            <a:srgbClr val="444455"/>
                          </a:solidFill>
                          <a:latin typeface="Calibri"/>
                        </a:rPr>
                        <a:t>Wk</a:t>
                      </a:r>
                      <a:r>
                        <a:rPr sz="1300" dirty="0">
                          <a:solidFill>
                            <a:srgbClr val="444455"/>
                          </a:solidFill>
                          <a:latin typeface="Calibri"/>
                        </a:rPr>
                        <a:t> 2</a:t>
                      </a:r>
                    </a:p>
                  </a:txBody>
                  <a:tcPr>
                    <a:solidFill>
                      <a:srgbClr val="F0F4F8"/>
                    </a:solidFill>
                  </a:tcPr>
                </a:tc>
                <a:tc>
                  <a:txBody>
                    <a:bodyPr/>
                    <a:lstStyle/>
                    <a:p>
                      <a:pPr algn="l"/>
                      <a:r>
                        <a:rPr sz="1300">
                          <a:solidFill>
                            <a:srgbClr val="444455"/>
                          </a:solidFill>
                          <a:latin typeface="Calibri"/>
                        </a:rPr>
                        <a:t>Mar 22–28</a:t>
                      </a:r>
                    </a:p>
                  </a:txBody>
                  <a:tcPr>
                    <a:solidFill>
                      <a:srgbClr val="F0F4F8"/>
                    </a:solidFill>
                  </a:tcPr>
                </a:tc>
                <a:tc>
                  <a:txBody>
                    <a:bodyPr/>
                    <a:lstStyle/>
                    <a:p>
                      <a:pPr algn="l"/>
                      <a:r>
                        <a:rPr sz="1300" dirty="0">
                          <a:solidFill>
                            <a:srgbClr val="444455"/>
                          </a:solidFill>
                          <a:latin typeface="Calibri"/>
                        </a:rPr>
                        <a:t>C++ A* core, PDDL parser, LLM prompt engineering, </a:t>
                      </a:r>
                      <a:r>
                        <a:rPr sz="1300" dirty="0" err="1">
                          <a:solidFill>
                            <a:srgbClr val="444455"/>
                          </a:solidFill>
                          <a:latin typeface="Calibri"/>
                        </a:rPr>
                        <a:t>NetworkX</a:t>
                      </a:r>
                      <a:r>
                        <a:rPr sz="1300" dirty="0">
                          <a:solidFill>
                            <a:srgbClr val="444455"/>
                          </a:solidFill>
                          <a:latin typeface="Calibri"/>
                        </a:rPr>
                        <a:t> KG</a:t>
                      </a:r>
                    </a:p>
                  </a:txBody>
                  <a:tcPr>
                    <a:solidFill>
                      <a:srgbClr val="F0F4F8"/>
                    </a:solidFill>
                  </a:tcPr>
                </a:tc>
                <a:tc>
                  <a:txBody>
                    <a:bodyPr/>
                    <a:lstStyle/>
                    <a:p>
                      <a:pPr algn="l"/>
                      <a:r>
                        <a:rPr sz="1300">
                          <a:solidFill>
                            <a:srgbClr val="444455"/>
                          </a:solidFill>
                          <a:latin typeface="Calibri"/>
                        </a:rPr>
                        <a:t>✅ Done</a:t>
                      </a:r>
                    </a:p>
                  </a:txBody>
                  <a:tcPr>
                    <a:solidFill>
                      <a:srgbClr val="F0F4F8"/>
                    </a:solidFill>
                  </a:tcPr>
                </a:tc>
                <a:extLst>
                  <a:ext uri="{0D108BD9-81ED-4DB2-BD59-A6C34878D82A}">
                    <a16:rowId xmlns:a16="http://schemas.microsoft.com/office/drawing/2014/main" val="10002"/>
                  </a:ext>
                </a:extLst>
              </a:tr>
              <a:tr h="366888">
                <a:tc>
                  <a:txBody>
                    <a:bodyPr/>
                    <a:lstStyle/>
                    <a:p>
                      <a:pPr algn="l"/>
                      <a:r>
                        <a:rPr sz="1300" b="1" dirty="0">
                          <a:solidFill>
                            <a:srgbClr val="444455"/>
                          </a:solidFill>
                          <a:latin typeface="Calibri"/>
                        </a:rPr>
                        <a:t>★ </a:t>
                      </a:r>
                      <a:r>
                        <a:rPr sz="1300" b="1" dirty="0" err="1">
                          <a:solidFill>
                            <a:srgbClr val="444455"/>
                          </a:solidFill>
                          <a:latin typeface="Calibri"/>
                        </a:rPr>
                        <a:t>Wk</a:t>
                      </a:r>
                      <a:r>
                        <a:rPr sz="1300" b="1" dirty="0">
                          <a:solidFill>
                            <a:srgbClr val="444455"/>
                          </a:solidFill>
                          <a:latin typeface="Calibri"/>
                        </a:rPr>
                        <a:t> 3</a:t>
                      </a:r>
                    </a:p>
                  </a:txBody>
                  <a:tcPr>
                    <a:solidFill>
                      <a:srgbClr val="E8F4FB"/>
                    </a:solidFill>
                  </a:tcPr>
                </a:tc>
                <a:tc>
                  <a:txBody>
                    <a:bodyPr/>
                    <a:lstStyle/>
                    <a:p>
                      <a:pPr algn="l"/>
                      <a:r>
                        <a:rPr sz="1300" b="1">
                          <a:solidFill>
                            <a:srgbClr val="444455"/>
                          </a:solidFill>
                          <a:latin typeface="Calibri"/>
                        </a:rPr>
                        <a:t>Mar 29</a:t>
                      </a:r>
                      <a:endParaRPr sz="1300" b="1" dirty="0">
                        <a:solidFill>
                          <a:srgbClr val="444455"/>
                        </a:solidFill>
                        <a:latin typeface="Calibri"/>
                      </a:endParaRPr>
                    </a:p>
                  </a:txBody>
                  <a:tcPr>
                    <a:solidFill>
                      <a:srgbClr val="E8F4FB"/>
                    </a:solidFill>
                  </a:tcPr>
                </a:tc>
                <a:tc>
                  <a:txBody>
                    <a:bodyPr/>
                    <a:lstStyle/>
                    <a:p>
                      <a:pPr algn="l"/>
                      <a:r>
                        <a:rPr sz="1300" b="1">
                          <a:solidFill>
                            <a:srgbClr val="444455"/>
                          </a:solidFill>
                          <a:latin typeface="Calibri"/>
                        </a:rPr>
                        <a:t>Proposal submission</a:t>
                      </a:r>
                      <a:endParaRPr sz="1300" b="1" dirty="0">
                        <a:solidFill>
                          <a:srgbClr val="444455"/>
                        </a:solidFill>
                        <a:latin typeface="Calibri"/>
                      </a:endParaRPr>
                    </a:p>
                  </a:txBody>
                  <a:tcPr>
                    <a:solidFill>
                      <a:srgbClr val="E8F4FB"/>
                    </a:solidFill>
                  </a:tcPr>
                </a:tc>
                <a:tc>
                  <a:txBody>
                    <a:bodyPr/>
                    <a:lstStyle/>
                    <a:p>
                      <a:pPr algn="l"/>
                      <a:r>
                        <a:rPr sz="1300">
                          <a:solidFill>
                            <a:srgbClr val="444455"/>
                          </a:solidFill>
                          <a:latin typeface="Calibri"/>
                        </a:rPr>
                        <a:t>✅ Submitted</a:t>
                      </a:r>
                    </a:p>
                  </a:txBody>
                  <a:tcPr>
                    <a:solidFill>
                      <a:srgbClr val="E8F4FB"/>
                    </a:solidFill>
                  </a:tcPr>
                </a:tc>
                <a:extLst>
                  <a:ext uri="{0D108BD9-81ED-4DB2-BD59-A6C34878D82A}">
                    <a16:rowId xmlns:a16="http://schemas.microsoft.com/office/drawing/2014/main" val="10003"/>
                  </a:ext>
                </a:extLst>
              </a:tr>
              <a:tr h="366888">
                <a:tc>
                  <a:txBody>
                    <a:bodyPr/>
                    <a:lstStyle/>
                    <a:p>
                      <a:pPr algn="l"/>
                      <a:r>
                        <a:rPr sz="1300" b="1" dirty="0">
                          <a:solidFill>
                            <a:srgbClr val="444455"/>
                          </a:solidFill>
                          <a:latin typeface="Calibri"/>
                        </a:rPr>
                        <a:t>★ </a:t>
                      </a:r>
                      <a:r>
                        <a:rPr sz="1300" b="1" dirty="0" err="1">
                          <a:solidFill>
                            <a:srgbClr val="444455"/>
                          </a:solidFill>
                          <a:latin typeface="Calibri"/>
                        </a:rPr>
                        <a:t>Wk</a:t>
                      </a:r>
                      <a:r>
                        <a:rPr sz="1300" b="1" dirty="0">
                          <a:solidFill>
                            <a:srgbClr val="444455"/>
                          </a:solidFill>
                          <a:latin typeface="Calibri"/>
                        </a:rPr>
                        <a:t> 4</a:t>
                      </a:r>
                    </a:p>
                  </a:txBody>
                  <a:tcPr>
                    <a:solidFill>
                      <a:srgbClr val="F0F4F8"/>
                    </a:solidFill>
                  </a:tcPr>
                </a:tc>
                <a:tc>
                  <a:txBody>
                    <a:bodyPr/>
                    <a:lstStyle/>
                    <a:p>
                      <a:pPr algn="l"/>
                      <a:r>
                        <a:rPr sz="1300" b="1">
                          <a:solidFill>
                            <a:srgbClr val="444455"/>
                          </a:solidFill>
                          <a:latin typeface="Calibri"/>
                        </a:rPr>
                        <a:t>Apr 5–11</a:t>
                      </a:r>
                      <a:endParaRPr sz="1300" b="1" dirty="0">
                        <a:solidFill>
                          <a:srgbClr val="444455"/>
                        </a:solidFill>
                        <a:latin typeface="Calibri"/>
                      </a:endParaRPr>
                    </a:p>
                  </a:txBody>
                  <a:tcPr>
                    <a:solidFill>
                      <a:srgbClr val="F0F4F8"/>
                    </a:solidFill>
                  </a:tcPr>
                </a:tc>
                <a:tc>
                  <a:txBody>
                    <a:bodyPr/>
                    <a:lstStyle/>
                    <a:p>
                      <a:pPr algn="l"/>
                      <a:r>
                        <a:rPr sz="1300" b="1">
                          <a:solidFill>
                            <a:srgbClr val="444455"/>
                          </a:solidFill>
                          <a:latin typeface="Calibri"/>
                        </a:rPr>
                        <a:t>Proposal presentation ← We are </a:t>
                      </a:r>
                      <a:r>
                        <a:rPr sz="1300" b="1" dirty="0">
                          <a:solidFill>
                            <a:srgbClr val="444455"/>
                          </a:solidFill>
                          <a:latin typeface="Calibri"/>
                        </a:rPr>
                        <a:t>here</a:t>
                      </a:r>
                    </a:p>
                  </a:txBody>
                  <a:tcPr>
                    <a:solidFill>
                      <a:srgbClr val="F0F4F8"/>
                    </a:solidFill>
                  </a:tcPr>
                </a:tc>
                <a:tc>
                  <a:txBody>
                    <a:bodyPr/>
                    <a:lstStyle/>
                    <a:p>
                      <a:pPr algn="l"/>
                      <a:r>
                        <a:rPr sz="1300">
                          <a:solidFill>
                            <a:srgbClr val="444455"/>
                          </a:solidFill>
                          <a:latin typeface="Calibri"/>
                        </a:rPr>
                        <a:t>🔄 Now</a:t>
                      </a:r>
                    </a:p>
                  </a:txBody>
                  <a:tcPr>
                    <a:solidFill>
                      <a:srgbClr val="F0F4F8"/>
                    </a:solidFill>
                  </a:tcPr>
                </a:tc>
                <a:extLst>
                  <a:ext uri="{0D108BD9-81ED-4DB2-BD59-A6C34878D82A}">
                    <a16:rowId xmlns:a16="http://schemas.microsoft.com/office/drawing/2014/main" val="10004"/>
                  </a:ext>
                </a:extLst>
              </a:tr>
              <a:tr h="366888">
                <a:tc>
                  <a:txBody>
                    <a:bodyPr/>
                    <a:lstStyle/>
                    <a:p>
                      <a:pPr algn="l"/>
                      <a:r>
                        <a:rPr sz="1300" dirty="0" err="1">
                          <a:solidFill>
                            <a:srgbClr val="444455"/>
                          </a:solidFill>
                          <a:latin typeface="Calibri"/>
                        </a:rPr>
                        <a:t>Wk</a:t>
                      </a:r>
                      <a:r>
                        <a:rPr sz="1300" dirty="0">
                          <a:solidFill>
                            <a:srgbClr val="444455"/>
                          </a:solidFill>
                          <a:latin typeface="Calibri"/>
                        </a:rPr>
                        <a:t> 4 cont.</a:t>
                      </a:r>
                    </a:p>
                  </a:txBody>
                  <a:tcPr>
                    <a:solidFill>
                      <a:srgbClr val="E8F4FB"/>
                    </a:solidFill>
                  </a:tcPr>
                </a:tc>
                <a:tc>
                  <a:txBody>
                    <a:bodyPr/>
                    <a:lstStyle/>
                    <a:p>
                      <a:pPr algn="l"/>
                      <a:r>
                        <a:rPr sz="1300">
                          <a:solidFill>
                            <a:srgbClr val="444455"/>
                          </a:solidFill>
                          <a:latin typeface="Calibri"/>
                        </a:rPr>
                        <a:t>Apr 5–11</a:t>
                      </a:r>
                    </a:p>
                  </a:txBody>
                  <a:tcPr>
                    <a:solidFill>
                      <a:srgbClr val="E8F4FB"/>
                    </a:solidFill>
                  </a:tcPr>
                </a:tc>
                <a:tc>
                  <a:txBody>
                    <a:bodyPr/>
                    <a:lstStyle/>
                    <a:p>
                      <a:pPr algn="l"/>
                      <a:r>
                        <a:rPr sz="1300" dirty="0">
                          <a:solidFill>
                            <a:srgbClr val="444455"/>
                          </a:solidFill>
                          <a:latin typeface="Calibri"/>
                        </a:rPr>
                        <a:t>Isaac Sim scene, Franka URDF, </a:t>
                      </a:r>
                      <a:r>
                        <a:rPr sz="1300" dirty="0" err="1">
                          <a:solidFill>
                            <a:srgbClr val="444455"/>
                          </a:solidFill>
                          <a:latin typeface="Calibri"/>
                        </a:rPr>
                        <a:t>FoundationPose</a:t>
                      </a:r>
                      <a:r>
                        <a:rPr sz="1300" dirty="0">
                          <a:solidFill>
                            <a:srgbClr val="444455"/>
                          </a:solidFill>
                          <a:latin typeface="Calibri"/>
                        </a:rPr>
                        <a:t> pipeline</a:t>
                      </a:r>
                    </a:p>
                  </a:txBody>
                  <a:tcPr>
                    <a:solidFill>
                      <a:srgbClr val="E8F4FB"/>
                    </a:solidFill>
                  </a:tcPr>
                </a:tc>
                <a:tc>
                  <a:txBody>
                    <a:bodyPr/>
                    <a:lstStyle/>
                    <a:p>
                      <a:pPr algn="l"/>
                      <a:r>
                        <a:rPr sz="1300">
                          <a:solidFill>
                            <a:srgbClr val="444455"/>
                          </a:solidFill>
                          <a:latin typeface="Calibri"/>
                        </a:rPr>
                        <a:t>🔄 In progress</a:t>
                      </a:r>
                    </a:p>
                  </a:txBody>
                  <a:tcPr>
                    <a:solidFill>
                      <a:srgbClr val="E8F4FB"/>
                    </a:solidFill>
                  </a:tcPr>
                </a:tc>
                <a:extLst>
                  <a:ext uri="{0D108BD9-81ED-4DB2-BD59-A6C34878D82A}">
                    <a16:rowId xmlns:a16="http://schemas.microsoft.com/office/drawing/2014/main" val="10005"/>
                  </a:ext>
                </a:extLst>
              </a:tr>
              <a:tr h="366888">
                <a:tc>
                  <a:txBody>
                    <a:bodyPr/>
                    <a:lstStyle/>
                    <a:p>
                      <a:pPr algn="l"/>
                      <a:r>
                        <a:rPr sz="1300" dirty="0" err="1">
                          <a:solidFill>
                            <a:srgbClr val="444455"/>
                          </a:solidFill>
                          <a:latin typeface="Calibri"/>
                        </a:rPr>
                        <a:t>Wk</a:t>
                      </a:r>
                      <a:r>
                        <a:rPr sz="1300" dirty="0">
                          <a:solidFill>
                            <a:srgbClr val="444455"/>
                          </a:solidFill>
                          <a:latin typeface="Calibri"/>
                        </a:rPr>
                        <a:t> 5</a:t>
                      </a:r>
                    </a:p>
                  </a:txBody>
                  <a:tcPr>
                    <a:solidFill>
                      <a:srgbClr val="F0F4F8"/>
                    </a:solidFill>
                  </a:tcPr>
                </a:tc>
                <a:tc>
                  <a:txBody>
                    <a:bodyPr/>
                    <a:lstStyle/>
                    <a:p>
                      <a:pPr algn="l"/>
                      <a:r>
                        <a:rPr sz="1300">
                          <a:solidFill>
                            <a:srgbClr val="444455"/>
                          </a:solidFill>
                          <a:latin typeface="Calibri"/>
                        </a:rPr>
                        <a:t>Apr 12–18</a:t>
                      </a:r>
                    </a:p>
                  </a:txBody>
                  <a:tcPr>
                    <a:solidFill>
                      <a:srgbClr val="F0F4F8"/>
                    </a:solidFill>
                  </a:tcPr>
                </a:tc>
                <a:tc>
                  <a:txBody>
                    <a:bodyPr/>
                    <a:lstStyle/>
                    <a:p>
                      <a:pPr algn="l"/>
                      <a:r>
                        <a:rPr sz="1300">
                          <a:solidFill>
                            <a:srgbClr val="444455"/>
                          </a:solidFill>
                          <a:latin typeface="Calibri"/>
                        </a:rPr>
                        <a:t>End-to-end agent integration; 3 benchmark tasks</a:t>
                      </a:r>
                    </a:p>
                  </a:txBody>
                  <a:tcPr>
                    <a:solidFill>
                      <a:srgbClr val="F0F4F8"/>
                    </a:solidFill>
                  </a:tcPr>
                </a:tc>
                <a:tc>
                  <a:txBody>
                    <a:bodyPr/>
                    <a:lstStyle/>
                    <a:p>
                      <a:pPr algn="l"/>
                      <a:r>
                        <a:rPr sz="1300">
                          <a:solidFill>
                            <a:srgbClr val="444455"/>
                          </a:solidFill>
                          <a:latin typeface="Calibri"/>
                        </a:rPr>
                        <a:t>Planned</a:t>
                      </a:r>
                    </a:p>
                  </a:txBody>
                  <a:tcPr>
                    <a:solidFill>
                      <a:srgbClr val="F0F4F8"/>
                    </a:solidFill>
                  </a:tcPr>
                </a:tc>
                <a:extLst>
                  <a:ext uri="{0D108BD9-81ED-4DB2-BD59-A6C34878D82A}">
                    <a16:rowId xmlns:a16="http://schemas.microsoft.com/office/drawing/2014/main" val="10006"/>
                  </a:ext>
                </a:extLst>
              </a:tr>
              <a:tr h="366888">
                <a:tc>
                  <a:txBody>
                    <a:bodyPr/>
                    <a:lstStyle/>
                    <a:p>
                      <a:pPr algn="l"/>
                      <a:r>
                        <a:rPr sz="1300" dirty="0" err="1">
                          <a:solidFill>
                            <a:srgbClr val="444455"/>
                          </a:solidFill>
                          <a:latin typeface="Calibri"/>
                        </a:rPr>
                        <a:t>Wk</a:t>
                      </a:r>
                      <a:r>
                        <a:rPr sz="1300" dirty="0">
                          <a:solidFill>
                            <a:srgbClr val="444455"/>
                          </a:solidFill>
                          <a:latin typeface="Calibri"/>
                        </a:rPr>
                        <a:t> 6</a:t>
                      </a:r>
                    </a:p>
                  </a:txBody>
                  <a:tcPr>
                    <a:solidFill>
                      <a:srgbClr val="E8F4FB"/>
                    </a:solidFill>
                  </a:tcPr>
                </a:tc>
                <a:tc>
                  <a:txBody>
                    <a:bodyPr/>
                    <a:lstStyle/>
                    <a:p>
                      <a:pPr algn="l"/>
                      <a:r>
                        <a:rPr sz="1300">
                          <a:solidFill>
                            <a:srgbClr val="444455"/>
                          </a:solidFill>
                          <a:latin typeface="Calibri"/>
                        </a:rPr>
                        <a:t>Apr 19–25</a:t>
                      </a:r>
                    </a:p>
                  </a:txBody>
                  <a:tcPr>
                    <a:solidFill>
                      <a:srgbClr val="E8F4FB"/>
                    </a:solidFill>
                  </a:tcPr>
                </a:tc>
                <a:tc>
                  <a:txBody>
                    <a:bodyPr/>
                    <a:lstStyle/>
                    <a:p>
                      <a:pPr algn="l"/>
                      <a:r>
                        <a:rPr sz="1300" dirty="0">
                          <a:solidFill>
                            <a:srgbClr val="444455"/>
                          </a:solidFill>
                          <a:latin typeface="Calibri"/>
                        </a:rPr>
                        <a:t>GA </a:t>
                      </a:r>
                      <a:r>
                        <a:rPr sz="1300" dirty="0" err="1">
                          <a:solidFill>
                            <a:srgbClr val="444455"/>
                          </a:solidFill>
                          <a:latin typeface="Calibri"/>
                        </a:rPr>
                        <a:t>optimiser</a:t>
                      </a:r>
                      <a:r>
                        <a:rPr sz="1300" dirty="0">
                          <a:solidFill>
                            <a:srgbClr val="444455"/>
                          </a:solidFill>
                          <a:latin typeface="Calibri"/>
                        </a:rPr>
                        <a:t>, monitor loop, </a:t>
                      </a:r>
                      <a:r>
                        <a:rPr sz="1300" dirty="0" err="1">
                          <a:solidFill>
                            <a:srgbClr val="444455"/>
                          </a:solidFill>
                          <a:latin typeface="Calibri"/>
                        </a:rPr>
                        <a:t>FastAPI</a:t>
                      </a:r>
                      <a:r>
                        <a:rPr sz="1300" dirty="0">
                          <a:solidFill>
                            <a:srgbClr val="444455"/>
                          </a:solidFill>
                          <a:latin typeface="Calibri"/>
                        </a:rPr>
                        <a:t>, React UI, 2 videos</a:t>
                      </a:r>
                    </a:p>
                  </a:txBody>
                  <a:tcPr>
                    <a:solidFill>
                      <a:srgbClr val="E8F4FB"/>
                    </a:solidFill>
                  </a:tcPr>
                </a:tc>
                <a:tc>
                  <a:txBody>
                    <a:bodyPr/>
                    <a:lstStyle/>
                    <a:p>
                      <a:pPr algn="l"/>
                      <a:r>
                        <a:rPr sz="1300">
                          <a:solidFill>
                            <a:srgbClr val="444455"/>
                          </a:solidFill>
                          <a:latin typeface="Calibri"/>
                        </a:rPr>
                        <a:t>Planned</a:t>
                      </a:r>
                    </a:p>
                  </a:txBody>
                  <a:tcPr>
                    <a:solidFill>
                      <a:srgbClr val="E8F4FB"/>
                    </a:solidFill>
                  </a:tcPr>
                </a:tc>
                <a:extLst>
                  <a:ext uri="{0D108BD9-81ED-4DB2-BD59-A6C34878D82A}">
                    <a16:rowId xmlns:a16="http://schemas.microsoft.com/office/drawing/2014/main" val="10007"/>
                  </a:ext>
                </a:extLst>
              </a:tr>
              <a:tr h="366896">
                <a:tc>
                  <a:txBody>
                    <a:bodyPr/>
                    <a:lstStyle/>
                    <a:p>
                      <a:pPr algn="l"/>
                      <a:r>
                        <a:rPr sz="1300" dirty="0">
                          <a:solidFill>
                            <a:srgbClr val="444455"/>
                          </a:solidFill>
                          <a:latin typeface="Calibri"/>
                        </a:rPr>
                        <a:t>★ </a:t>
                      </a:r>
                      <a:r>
                        <a:rPr sz="1300" dirty="0" err="1">
                          <a:solidFill>
                            <a:srgbClr val="444455"/>
                          </a:solidFill>
                          <a:latin typeface="Calibri"/>
                        </a:rPr>
                        <a:t>Wk</a:t>
                      </a:r>
                      <a:r>
                        <a:rPr sz="1300" dirty="0">
                          <a:solidFill>
                            <a:srgbClr val="444455"/>
                          </a:solidFill>
                          <a:latin typeface="Calibri"/>
                        </a:rPr>
                        <a:t> 7</a:t>
                      </a:r>
                    </a:p>
                  </a:txBody>
                  <a:tcPr>
                    <a:solidFill>
                      <a:srgbClr val="F0F4F8"/>
                    </a:solidFill>
                  </a:tcPr>
                </a:tc>
                <a:tc>
                  <a:txBody>
                    <a:bodyPr/>
                    <a:lstStyle/>
                    <a:p>
                      <a:pPr algn="l"/>
                      <a:r>
                        <a:rPr sz="1300">
                          <a:solidFill>
                            <a:srgbClr val="444455"/>
                          </a:solidFill>
                          <a:latin typeface="Calibri"/>
                        </a:rPr>
                        <a:t>May 3</a:t>
                      </a:r>
                    </a:p>
                  </a:txBody>
                  <a:tcPr>
                    <a:solidFill>
                      <a:srgbClr val="F0F4F8"/>
                    </a:solidFill>
                  </a:tcPr>
                </a:tc>
                <a:tc>
                  <a:txBody>
                    <a:bodyPr/>
                    <a:lstStyle/>
                    <a:p>
                      <a:pPr algn="l"/>
                      <a:r>
                        <a:rPr sz="1300">
                          <a:solidFill>
                            <a:srgbClr val="444455"/>
                          </a:solidFill>
                          <a:latin typeface="Calibri"/>
                        </a:rPr>
                        <a:t>Final submission (videos, report, </a:t>
                      </a:r>
                      <a:r>
                        <a:rPr sz="1300" dirty="0">
                          <a:solidFill>
                            <a:srgbClr val="444455"/>
                          </a:solidFill>
                          <a:latin typeface="Calibri"/>
                        </a:rPr>
                        <a:t>peer review)</a:t>
                      </a:r>
                    </a:p>
                  </a:txBody>
                  <a:tcPr>
                    <a:solidFill>
                      <a:srgbClr val="F0F4F8"/>
                    </a:solidFill>
                  </a:tcPr>
                </a:tc>
                <a:tc>
                  <a:txBody>
                    <a:bodyPr/>
                    <a:lstStyle/>
                    <a:p>
                      <a:pPr algn="l"/>
                      <a:r>
                        <a:rPr sz="1300">
                          <a:solidFill>
                            <a:srgbClr val="444455"/>
                          </a:solidFill>
                          <a:latin typeface="Calibri"/>
                        </a:rPr>
                        <a:t>Planned</a:t>
                      </a:r>
                    </a:p>
                  </a:txBody>
                  <a:tcPr>
                    <a:solidFill>
                      <a:srgbClr val="F0F4F8"/>
                    </a:solidFill>
                  </a:tcPr>
                </a:tc>
                <a:extLst>
                  <a:ext uri="{0D108BD9-81ED-4DB2-BD59-A6C34878D82A}">
                    <a16:rowId xmlns:a16="http://schemas.microsoft.com/office/drawing/2014/main" val="10008"/>
                  </a:ext>
                </a:extLst>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0"/>
            <a:ext cx="12188952" cy="1051560"/>
          </a:xfrm>
          <a:prstGeom prst="rect">
            <a:avLst/>
          </a:prstGeom>
          <a:solidFill>
            <a:srgbClr val="1B27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1000760"/>
            <a:ext cx="12188952" cy="50800"/>
          </a:xfrm>
          <a:prstGeom prst="rect">
            <a:avLst/>
          </a:prstGeom>
          <a:solidFill>
            <a:srgbClr val="008B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65760" y="73152"/>
            <a:ext cx="11430000" cy="594360"/>
          </a:xfrm>
          <a:prstGeom prst="rect">
            <a:avLst/>
          </a:prstGeom>
          <a:noFill/>
        </p:spPr>
        <p:txBody>
          <a:bodyPr wrap="square">
            <a:spAutoFit/>
          </a:bodyPr>
          <a:lstStyle/>
          <a:p>
            <a:pPr algn="l"/>
            <a:r>
              <a:rPr sz="3000" b="1" i="0">
                <a:solidFill>
                  <a:srgbClr val="FFFFFF"/>
                </a:solidFill>
                <a:latin typeface="Calibri"/>
              </a:rPr>
              <a:t>Risks &amp; Mitigations</a:t>
            </a:r>
          </a:p>
        </p:txBody>
      </p:sp>
      <p:sp>
        <p:nvSpPr>
          <p:cNvPr id="6" name="TextBox 5"/>
          <p:cNvSpPr txBox="1"/>
          <p:nvPr/>
        </p:nvSpPr>
        <p:spPr>
          <a:xfrm>
            <a:off x="365760" y="658368"/>
            <a:ext cx="11430000" cy="347472"/>
          </a:xfrm>
          <a:prstGeom prst="rect">
            <a:avLst/>
          </a:prstGeom>
          <a:noFill/>
        </p:spPr>
        <p:txBody>
          <a:bodyPr wrap="square" lIns="91440" tIns="45720" rIns="91440" bIns="45720" anchor="t">
            <a:spAutoFit/>
          </a:bodyPr>
          <a:lstStyle/>
          <a:p>
            <a:r>
              <a:rPr sz="1500" i="1">
                <a:solidFill>
                  <a:schemeClr val="bg1"/>
                </a:solidFill>
                <a:latin typeface="Calibri"/>
              </a:rPr>
              <a:t>Known Risks — Already Addressed in Design</a:t>
            </a:r>
          </a:p>
        </p:txBody>
      </p:sp>
      <p:sp>
        <p:nvSpPr>
          <p:cNvPr id="7" name="Rectangle 6"/>
          <p:cNvSpPr/>
          <p:nvPr/>
        </p:nvSpPr>
        <p:spPr>
          <a:xfrm>
            <a:off x="0" y="6693408"/>
            <a:ext cx="12188952" cy="164592"/>
          </a:xfrm>
          <a:prstGeom prst="rect">
            <a:avLst/>
          </a:prstGeom>
          <a:solidFill>
            <a:srgbClr val="1B27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8" name="Table 7"/>
          <p:cNvGraphicFramePr>
            <a:graphicFrameLocks noGrp="1"/>
          </p:cNvGraphicFramePr>
          <p:nvPr/>
        </p:nvGraphicFramePr>
        <p:xfrm>
          <a:off x="365760" y="1188720"/>
          <a:ext cx="11430000" cy="3009053"/>
        </p:xfrm>
        <a:graphic>
          <a:graphicData uri="http://schemas.openxmlformats.org/drawingml/2006/table">
            <a:tbl>
              <a:tblPr firstRow="1" bandRow="1">
                <a:tableStyleId>{5C22544A-7EE6-4342-B048-85BDC9FD1C3A}</a:tableStyleId>
              </a:tblPr>
              <a:tblGrid>
                <a:gridCol w="3810000">
                  <a:extLst>
                    <a:ext uri="{9D8B030D-6E8A-4147-A177-3AD203B41FA5}">
                      <a16:colId xmlns:a16="http://schemas.microsoft.com/office/drawing/2014/main" val="20000"/>
                    </a:ext>
                  </a:extLst>
                </a:gridCol>
                <a:gridCol w="3810000">
                  <a:extLst>
                    <a:ext uri="{9D8B030D-6E8A-4147-A177-3AD203B41FA5}">
                      <a16:colId xmlns:a16="http://schemas.microsoft.com/office/drawing/2014/main" val="20001"/>
                    </a:ext>
                  </a:extLst>
                </a:gridCol>
                <a:gridCol w="3810000">
                  <a:extLst>
                    <a:ext uri="{9D8B030D-6E8A-4147-A177-3AD203B41FA5}">
                      <a16:colId xmlns:a16="http://schemas.microsoft.com/office/drawing/2014/main" val="20002"/>
                    </a:ext>
                  </a:extLst>
                </a:gridCol>
              </a:tblGrid>
              <a:tr h="372533">
                <a:tc>
                  <a:txBody>
                    <a:bodyPr/>
                    <a:lstStyle/>
                    <a:p>
                      <a:pPr algn="l"/>
                      <a:r>
                        <a:rPr sz="1300" b="1">
                          <a:solidFill>
                            <a:srgbClr val="FFFFFF"/>
                          </a:solidFill>
                          <a:latin typeface="Calibri"/>
                        </a:rPr>
                        <a:t>Risk</a:t>
                      </a:r>
                    </a:p>
                  </a:txBody>
                  <a:tcPr>
                    <a:solidFill>
                      <a:srgbClr val="1B275E"/>
                    </a:solidFill>
                  </a:tcPr>
                </a:tc>
                <a:tc>
                  <a:txBody>
                    <a:bodyPr/>
                    <a:lstStyle/>
                    <a:p>
                      <a:pPr algn="l"/>
                      <a:r>
                        <a:rPr sz="1300" b="1">
                          <a:solidFill>
                            <a:srgbClr val="FFFFFF"/>
                          </a:solidFill>
                          <a:latin typeface="Calibri"/>
                        </a:rPr>
                        <a:t>Impact</a:t>
                      </a:r>
                    </a:p>
                  </a:txBody>
                  <a:tcPr>
                    <a:solidFill>
                      <a:srgbClr val="1B275E"/>
                    </a:solidFill>
                  </a:tcPr>
                </a:tc>
                <a:tc>
                  <a:txBody>
                    <a:bodyPr/>
                    <a:lstStyle/>
                    <a:p>
                      <a:pPr algn="l"/>
                      <a:r>
                        <a:rPr sz="1300" b="1">
                          <a:solidFill>
                            <a:srgbClr val="FFFFFF"/>
                          </a:solidFill>
                          <a:latin typeface="Calibri"/>
                        </a:rPr>
                        <a:t>Mitigation</a:t>
                      </a:r>
                    </a:p>
                  </a:txBody>
                  <a:tcPr>
                    <a:solidFill>
                      <a:srgbClr val="1B275E"/>
                    </a:solidFill>
                  </a:tcPr>
                </a:tc>
                <a:extLst>
                  <a:ext uri="{0D108BD9-81ED-4DB2-BD59-A6C34878D82A}">
                    <a16:rowId xmlns:a16="http://schemas.microsoft.com/office/drawing/2014/main" val="10000"/>
                  </a:ext>
                </a:extLst>
              </a:tr>
              <a:tr h="372533">
                <a:tc>
                  <a:txBody>
                    <a:bodyPr/>
                    <a:lstStyle/>
                    <a:p>
                      <a:pPr algn="l"/>
                      <a:r>
                        <a:rPr sz="1300">
                          <a:solidFill>
                            <a:srgbClr val="444455"/>
                          </a:solidFill>
                          <a:latin typeface="Calibri"/>
                        </a:rPr>
                        <a:t>VRAM contention (LLaMA + Isaac Sim + cuMotion)</a:t>
                      </a:r>
                    </a:p>
                  </a:txBody>
                  <a:tcPr>
                    <a:solidFill>
                      <a:srgbClr val="E8F4FB"/>
                    </a:solidFill>
                  </a:tcPr>
                </a:tc>
                <a:tc>
                  <a:txBody>
                    <a:bodyPr/>
                    <a:lstStyle/>
                    <a:p>
                      <a:pPr algn="l"/>
                      <a:r>
                        <a:rPr sz="1300">
                          <a:solidFill>
                            <a:srgbClr val="444455"/>
                          </a:solidFill>
                          <a:latin typeface="Calibri"/>
                        </a:rPr>
                        <a:t>System OOM</a:t>
                      </a:r>
                    </a:p>
                  </a:txBody>
                  <a:tcPr>
                    <a:solidFill>
                      <a:srgbClr val="E8F4FB"/>
                    </a:solidFill>
                  </a:tcPr>
                </a:tc>
                <a:tc>
                  <a:txBody>
                    <a:bodyPr/>
                    <a:lstStyle/>
                    <a:p>
                      <a:pPr algn="l"/>
                      <a:r>
                        <a:rPr sz="1300">
                          <a:solidFill>
                            <a:srgbClr val="444455"/>
                          </a:solidFill>
                          <a:latin typeface="Calibri"/>
                        </a:rPr>
                        <a:t>LLaMA-3 invoked only at task init; sequential not concurrent. Total ~12–14GB on 16GB VRAM (LLaMA ~5–6GB + Isaac Sim ~6–8GB)</a:t>
                      </a:r>
                    </a:p>
                  </a:txBody>
                  <a:tcPr>
                    <a:solidFill>
                      <a:srgbClr val="E8F4FB"/>
                    </a:solidFill>
                  </a:tcPr>
                </a:tc>
                <a:extLst>
                  <a:ext uri="{0D108BD9-81ED-4DB2-BD59-A6C34878D82A}">
                    <a16:rowId xmlns:a16="http://schemas.microsoft.com/office/drawing/2014/main" val="10001"/>
                  </a:ext>
                </a:extLst>
              </a:tr>
              <a:tr h="372533">
                <a:tc>
                  <a:txBody>
                    <a:bodyPr/>
                    <a:lstStyle/>
                    <a:p>
                      <a:pPr algn="l"/>
                      <a:r>
                        <a:rPr sz="1300">
                          <a:solidFill>
                            <a:srgbClr val="444455"/>
                          </a:solidFill>
                          <a:latin typeface="Calibri"/>
                        </a:rPr>
                        <a:t>LLaMA-3 produces invalid PDDL</a:t>
                      </a:r>
                    </a:p>
                  </a:txBody>
                  <a:tcPr>
                    <a:solidFill>
                      <a:srgbClr val="F0F4F8"/>
                    </a:solidFill>
                  </a:tcPr>
                </a:tc>
                <a:tc>
                  <a:txBody>
                    <a:bodyPr/>
                    <a:lstStyle/>
                    <a:p>
                      <a:pPr algn="l"/>
                      <a:r>
                        <a:rPr sz="1300">
                          <a:solidFill>
                            <a:srgbClr val="444455"/>
                          </a:solidFill>
                          <a:latin typeface="Calibri"/>
                        </a:rPr>
                        <a:t>Pipeline stall</a:t>
                      </a:r>
                    </a:p>
                  </a:txBody>
                  <a:tcPr>
                    <a:solidFill>
                      <a:srgbClr val="F0F4F8"/>
                    </a:solidFill>
                  </a:tcPr>
                </a:tc>
                <a:tc>
                  <a:txBody>
                    <a:bodyPr/>
                    <a:lstStyle/>
                    <a:p>
                      <a:pPr algn="l"/>
                      <a:r>
                        <a:rPr sz="1300">
                          <a:solidFill>
                            <a:srgbClr val="444455"/>
                          </a:solidFill>
                          <a:latin typeface="Calibri"/>
                        </a:rPr>
                        <a:t>VAL validator layer + template-based fallback generator</a:t>
                      </a:r>
                    </a:p>
                  </a:txBody>
                  <a:tcPr>
                    <a:solidFill>
                      <a:srgbClr val="F0F4F8"/>
                    </a:solidFill>
                  </a:tcPr>
                </a:tc>
                <a:extLst>
                  <a:ext uri="{0D108BD9-81ED-4DB2-BD59-A6C34878D82A}">
                    <a16:rowId xmlns:a16="http://schemas.microsoft.com/office/drawing/2014/main" val="10002"/>
                  </a:ext>
                </a:extLst>
              </a:tr>
              <a:tr h="372533">
                <a:tc>
                  <a:txBody>
                    <a:bodyPr/>
                    <a:lstStyle/>
                    <a:p>
                      <a:pPr algn="l"/>
                      <a:r>
                        <a:rPr sz="1300">
                          <a:solidFill>
                            <a:srgbClr val="444455"/>
                          </a:solidFill>
                          <a:latin typeface="Calibri"/>
                        </a:rPr>
                        <a:t>Isaac Sim install failure on Ubuntu 24.04</a:t>
                      </a:r>
                    </a:p>
                  </a:txBody>
                  <a:tcPr>
                    <a:solidFill>
                      <a:srgbClr val="E8F4FB"/>
                    </a:solidFill>
                  </a:tcPr>
                </a:tc>
                <a:tc>
                  <a:txBody>
                    <a:bodyPr/>
                    <a:lstStyle/>
                    <a:p>
                      <a:pPr algn="l"/>
                      <a:r>
                        <a:rPr sz="1300">
                          <a:solidFill>
                            <a:srgbClr val="444455"/>
                          </a:solidFill>
                          <a:latin typeface="Calibri"/>
                        </a:rPr>
                        <a:t>Week lost</a:t>
                      </a:r>
                    </a:p>
                  </a:txBody>
                  <a:tcPr>
                    <a:solidFill>
                      <a:srgbClr val="E8F4FB"/>
                    </a:solidFill>
                  </a:tcPr>
                </a:tc>
                <a:tc>
                  <a:txBody>
                    <a:bodyPr/>
                    <a:lstStyle/>
                    <a:p>
                      <a:pPr algn="l"/>
                      <a:r>
                        <a:rPr sz="1300">
                          <a:solidFill>
                            <a:srgbClr val="444455"/>
                          </a:solidFill>
                          <a:latin typeface="Calibri"/>
                        </a:rPr>
                        <a:t>Pre-tested on desktop RTX 5070 Ti. Fallback: cloud Isaac Sim (RunPod)</a:t>
                      </a:r>
                    </a:p>
                  </a:txBody>
                  <a:tcPr>
                    <a:solidFill>
                      <a:srgbClr val="E8F4FB"/>
                    </a:solidFill>
                  </a:tcPr>
                </a:tc>
                <a:extLst>
                  <a:ext uri="{0D108BD9-81ED-4DB2-BD59-A6C34878D82A}">
                    <a16:rowId xmlns:a16="http://schemas.microsoft.com/office/drawing/2014/main" val="10003"/>
                  </a:ext>
                </a:extLst>
              </a:tr>
              <a:tr h="372533">
                <a:tc>
                  <a:txBody>
                    <a:bodyPr/>
                    <a:lstStyle/>
                    <a:p>
                      <a:pPr algn="l"/>
                      <a:r>
                        <a:rPr sz="1300">
                          <a:solidFill>
                            <a:srgbClr val="444455"/>
                          </a:solidFill>
                          <a:latin typeface="Calibri"/>
                        </a:rPr>
                        <a:t>FoundationPose accuracy on novel objects</a:t>
                      </a:r>
                    </a:p>
                  </a:txBody>
                  <a:tcPr>
                    <a:solidFill>
                      <a:srgbClr val="F0F4F8"/>
                    </a:solidFill>
                  </a:tcPr>
                </a:tc>
                <a:tc>
                  <a:txBody>
                    <a:bodyPr/>
                    <a:lstStyle/>
                    <a:p>
                      <a:pPr algn="l"/>
                      <a:r>
                        <a:rPr sz="1300">
                          <a:solidFill>
                            <a:srgbClr val="444455"/>
                          </a:solidFill>
                          <a:latin typeface="Calibri"/>
                        </a:rPr>
                        <a:t>Poor scene state</a:t>
                      </a:r>
                    </a:p>
                  </a:txBody>
                  <a:tcPr>
                    <a:solidFill>
                      <a:srgbClr val="F0F4F8"/>
                    </a:solidFill>
                  </a:tcPr>
                </a:tc>
                <a:tc>
                  <a:txBody>
                    <a:bodyPr/>
                    <a:lstStyle/>
                    <a:p>
                      <a:pPr algn="l"/>
                      <a:r>
                        <a:rPr sz="1300">
                          <a:solidFill>
                            <a:srgbClr val="444455"/>
                          </a:solidFill>
                          <a:latin typeface="Calibri"/>
                        </a:rPr>
                        <a:t>PM1 uses Isaac Sim ground-truth poses as fallback — perception is PM2's scope</a:t>
                      </a:r>
                    </a:p>
                  </a:txBody>
                  <a:tcPr>
                    <a:solidFill>
                      <a:srgbClr val="F0F4F8"/>
                    </a:solidFill>
                  </a:tcPr>
                </a:tc>
                <a:extLst>
                  <a:ext uri="{0D108BD9-81ED-4DB2-BD59-A6C34878D82A}">
                    <a16:rowId xmlns:a16="http://schemas.microsoft.com/office/drawing/2014/main" val="10004"/>
                  </a:ext>
                </a:extLst>
              </a:tr>
              <a:tr h="372535">
                <a:tc>
                  <a:txBody>
                    <a:bodyPr/>
                    <a:lstStyle/>
                    <a:p>
                      <a:pPr algn="l"/>
                      <a:r>
                        <a:rPr sz="1300">
                          <a:solidFill>
                            <a:srgbClr val="444455"/>
                          </a:solidFill>
                          <a:latin typeface="Calibri"/>
                        </a:rPr>
                        <a:t>Solo workload (10 man-days)</a:t>
                      </a:r>
                    </a:p>
                  </a:txBody>
                  <a:tcPr>
                    <a:solidFill>
                      <a:srgbClr val="E8F4FB"/>
                    </a:solidFill>
                  </a:tcPr>
                </a:tc>
                <a:tc>
                  <a:txBody>
                    <a:bodyPr/>
                    <a:lstStyle/>
                    <a:p>
                      <a:pPr algn="l"/>
                      <a:r>
                        <a:rPr sz="1300">
                          <a:solidFill>
                            <a:srgbClr val="444455"/>
                          </a:solidFill>
                          <a:latin typeface="Calibri"/>
                        </a:rPr>
                        <a:t>Scope creep</a:t>
                      </a:r>
                    </a:p>
                  </a:txBody>
                  <a:tcPr>
                    <a:solidFill>
                      <a:srgbClr val="E8F4FB"/>
                    </a:solidFill>
                  </a:tcPr>
                </a:tc>
                <a:tc>
                  <a:txBody>
                    <a:bodyPr/>
                    <a:lstStyle/>
                    <a:p>
                      <a:pPr algn="l"/>
                      <a:r>
                        <a:rPr sz="1300">
                          <a:solidFill>
                            <a:srgbClr val="444455"/>
                          </a:solidFill>
                          <a:latin typeface="Calibri"/>
                        </a:rPr>
                        <a:t>Claude Code orchestrator + 5 specialised subagents; each module independently testable with mock I/O</a:t>
                      </a:r>
                    </a:p>
                  </a:txBody>
                  <a:tcPr>
                    <a:solidFill>
                      <a:srgbClr val="E8F4FB"/>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0"/>
            <a:ext cx="12188952" cy="1051560"/>
          </a:xfrm>
          <a:prstGeom prst="rect">
            <a:avLst/>
          </a:prstGeom>
          <a:solidFill>
            <a:srgbClr val="1B27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1000760"/>
            <a:ext cx="12188952" cy="50800"/>
          </a:xfrm>
          <a:prstGeom prst="rect">
            <a:avLst/>
          </a:prstGeom>
          <a:solidFill>
            <a:srgbClr val="008B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65760" y="73152"/>
            <a:ext cx="11430000" cy="594360"/>
          </a:xfrm>
          <a:prstGeom prst="rect">
            <a:avLst/>
          </a:prstGeom>
          <a:noFill/>
        </p:spPr>
        <p:txBody>
          <a:bodyPr wrap="square">
            <a:spAutoFit/>
          </a:bodyPr>
          <a:lstStyle/>
          <a:p>
            <a:pPr algn="l"/>
            <a:r>
              <a:rPr sz="3000" b="1" i="0">
                <a:solidFill>
                  <a:srgbClr val="FFFFFF"/>
                </a:solidFill>
                <a:latin typeface="Calibri"/>
              </a:rPr>
              <a:t>Conclusion</a:t>
            </a:r>
          </a:p>
        </p:txBody>
      </p:sp>
      <p:sp>
        <p:nvSpPr>
          <p:cNvPr id="6" name="TextBox 5"/>
          <p:cNvSpPr txBox="1"/>
          <p:nvPr/>
        </p:nvSpPr>
        <p:spPr>
          <a:xfrm>
            <a:off x="365760" y="658368"/>
            <a:ext cx="11430000" cy="347472"/>
          </a:xfrm>
          <a:prstGeom prst="rect">
            <a:avLst/>
          </a:prstGeom>
          <a:noFill/>
        </p:spPr>
        <p:txBody>
          <a:bodyPr wrap="square" lIns="91440" tIns="45720" rIns="91440" bIns="45720" anchor="t">
            <a:spAutoFit/>
          </a:bodyPr>
          <a:lstStyle/>
          <a:p>
            <a:r>
              <a:rPr sz="1500" i="1">
                <a:solidFill>
                  <a:schemeClr val="bg1"/>
                </a:solidFill>
                <a:latin typeface="Calibri"/>
              </a:rPr>
              <a:t>Technical Contributions</a:t>
            </a:r>
          </a:p>
        </p:txBody>
      </p:sp>
      <p:sp>
        <p:nvSpPr>
          <p:cNvPr id="7" name="Rectangle 6"/>
          <p:cNvSpPr/>
          <p:nvPr/>
        </p:nvSpPr>
        <p:spPr>
          <a:xfrm>
            <a:off x="0" y="6693408"/>
            <a:ext cx="12188952" cy="164592"/>
          </a:xfrm>
          <a:prstGeom prst="rect">
            <a:avLst/>
          </a:prstGeom>
          <a:solidFill>
            <a:srgbClr val="1B27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365760" y="1188720"/>
            <a:ext cx="8046720" cy="508000"/>
          </a:xfrm>
          <a:prstGeom prst="rect">
            <a:avLst/>
          </a:prstGeom>
          <a:solidFill>
            <a:srgbClr val="1B27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67360" y="1226820"/>
            <a:ext cx="7843520" cy="431800"/>
          </a:xfrm>
          <a:prstGeom prst="rect">
            <a:avLst/>
          </a:prstGeom>
          <a:noFill/>
        </p:spPr>
        <p:txBody>
          <a:bodyPr wrap="square">
            <a:spAutoFit/>
          </a:bodyPr>
          <a:lstStyle/>
          <a:p>
            <a:pPr algn="l"/>
            <a:r>
              <a:rPr sz="1300" b="0" i="1">
                <a:solidFill>
                  <a:srgbClr val="FFB300"/>
                </a:solidFill>
                <a:latin typeface="Calibri"/>
              </a:rPr>
              <a:t>This is an engineering integration project. The contribution is a working implementation of these techniques in a coherent pipeline — not claiming novel algorithms.</a:t>
            </a:r>
          </a:p>
        </p:txBody>
      </p:sp>
      <p:sp>
        <p:nvSpPr>
          <p:cNvPr id="20" name="TextBox 19"/>
          <p:cNvSpPr txBox="1"/>
          <p:nvPr/>
        </p:nvSpPr>
        <p:spPr>
          <a:xfrm>
            <a:off x="365760" y="1747520"/>
            <a:ext cx="8046720" cy="523220"/>
          </a:xfrm>
          <a:prstGeom prst="rect">
            <a:avLst/>
          </a:prstGeom>
          <a:noFill/>
        </p:spPr>
        <p:txBody>
          <a:bodyPr wrap="square" lIns="91440" tIns="45720" rIns="91440" bIns="45720" anchor="t">
            <a:spAutoFit/>
          </a:bodyPr>
          <a:lstStyle/>
          <a:p>
            <a:pPr algn="l"/>
            <a:r>
              <a:rPr sz="1400" b="0" i="0">
                <a:solidFill>
                  <a:srgbClr val="444455"/>
                </a:solidFill>
                <a:latin typeface="Calibri"/>
              </a:rPr>
              <a:t>1. </a:t>
            </a:r>
            <a:r>
              <a:rPr sz="1400" b="1" i="0">
                <a:solidFill>
                  <a:srgbClr val="444455"/>
                </a:solidFill>
                <a:latin typeface="Calibri"/>
              </a:rPr>
              <a:t>Custom C++ PDDL A planner</a:t>
            </a:r>
            <a:r>
              <a:rPr sz="1400" b="0" i="0">
                <a:solidFill>
                  <a:srgbClr val="444455"/>
                </a:solidFill>
                <a:latin typeface="Calibri"/>
              </a:rPr>
              <a:t> — implemented from first principles; direct implementation of heuristic </a:t>
            </a:r>
            <a:r>
              <a:rPr sz="1400" b="0" i="0" dirty="0">
                <a:solidFill>
                  <a:srgbClr val="444455"/>
                </a:solidFill>
                <a:latin typeface="Calibri"/>
              </a:rPr>
              <a:t>search, not a library wrapper</a:t>
            </a:r>
          </a:p>
        </p:txBody>
      </p:sp>
      <p:sp>
        <p:nvSpPr>
          <p:cNvPr id="21" name="TextBox 20"/>
          <p:cNvSpPr txBox="1"/>
          <p:nvPr/>
        </p:nvSpPr>
        <p:spPr>
          <a:xfrm>
            <a:off x="365760" y="2115820"/>
            <a:ext cx="8046720" cy="330200"/>
          </a:xfrm>
          <a:prstGeom prst="rect">
            <a:avLst/>
          </a:prstGeom>
          <a:noFill/>
        </p:spPr>
        <p:txBody>
          <a:bodyPr wrap="square">
            <a:spAutoFit/>
          </a:bodyPr>
          <a:lstStyle/>
          <a:p>
            <a:pPr algn="l"/>
            <a:r>
              <a:rPr sz="1400" b="0" i="0">
                <a:solidFill>
                  <a:srgbClr val="444455"/>
                </a:solidFill>
                <a:latin typeface="Calibri"/>
              </a:rPr>
              <a:t>2. Hybrid LLM + symbolic architecture — LLM for language understanding; PDDL for plan correctness; each doing what it does best</a:t>
            </a:r>
          </a:p>
        </p:txBody>
      </p:sp>
      <p:sp>
        <p:nvSpPr>
          <p:cNvPr id="22" name="TextBox 21"/>
          <p:cNvSpPr txBox="1"/>
          <p:nvPr/>
        </p:nvSpPr>
        <p:spPr>
          <a:xfrm>
            <a:off x="365760" y="2484120"/>
            <a:ext cx="8046720" cy="330200"/>
          </a:xfrm>
          <a:prstGeom prst="rect">
            <a:avLst/>
          </a:prstGeom>
          <a:noFill/>
        </p:spPr>
        <p:txBody>
          <a:bodyPr wrap="square">
            <a:spAutoFit/>
          </a:bodyPr>
          <a:lstStyle/>
          <a:p>
            <a:pPr algn="l"/>
            <a:r>
              <a:rPr sz="1400" b="0" i="0">
                <a:solidFill>
                  <a:srgbClr val="444455"/>
                </a:solidFill>
                <a:latin typeface="Calibri"/>
              </a:rPr>
              <a:t>3. GA multi-objective plan optimiser — Pareto-optimal plan selection beyond simple A* output (steps, time, collision risk)</a:t>
            </a:r>
          </a:p>
        </p:txBody>
      </p:sp>
      <p:sp>
        <p:nvSpPr>
          <p:cNvPr id="23" name="TextBox 22"/>
          <p:cNvSpPr txBox="1"/>
          <p:nvPr/>
        </p:nvSpPr>
        <p:spPr>
          <a:xfrm>
            <a:off x="365760" y="2852420"/>
            <a:ext cx="8046720" cy="330200"/>
          </a:xfrm>
          <a:prstGeom prst="rect">
            <a:avLst/>
          </a:prstGeom>
          <a:noFill/>
        </p:spPr>
        <p:txBody>
          <a:bodyPr wrap="square">
            <a:spAutoFit/>
          </a:bodyPr>
          <a:lstStyle/>
          <a:p>
            <a:pPr algn="l"/>
            <a:r>
              <a:rPr sz="1400" b="0" i="0">
                <a:solidFill>
                  <a:srgbClr val="444455"/>
                </a:solidFill>
                <a:latin typeface="Calibri"/>
              </a:rPr>
              <a:t>4. Full 4-technique IRS coverage in a single coherent pipeline, not disconnected modules</a:t>
            </a:r>
          </a:p>
        </p:txBody>
      </p:sp>
      <p:sp>
        <p:nvSpPr>
          <p:cNvPr id="24" name="TextBox 23"/>
          <p:cNvSpPr txBox="1"/>
          <p:nvPr/>
        </p:nvSpPr>
        <p:spPr>
          <a:xfrm>
            <a:off x="319096" y="3648312"/>
            <a:ext cx="8046720" cy="304800"/>
          </a:xfrm>
          <a:prstGeom prst="rect">
            <a:avLst/>
          </a:prstGeom>
          <a:noFill/>
        </p:spPr>
        <p:txBody>
          <a:bodyPr wrap="square">
            <a:spAutoFit/>
          </a:bodyPr>
          <a:lstStyle/>
          <a:p>
            <a:pPr algn="l"/>
            <a:r>
              <a:rPr sz="1400" b="1" i="0">
                <a:solidFill>
                  <a:srgbClr val="008BB4"/>
                </a:solidFill>
                <a:latin typeface="Calibri"/>
              </a:rPr>
              <a:t>Capstone Roadmap</a:t>
            </a:r>
          </a:p>
        </p:txBody>
      </p:sp>
      <p:sp>
        <p:nvSpPr>
          <p:cNvPr id="25" name="Rectangle 24"/>
          <p:cNvSpPr/>
          <p:nvPr/>
        </p:nvSpPr>
        <p:spPr>
          <a:xfrm>
            <a:off x="319096" y="3978512"/>
            <a:ext cx="8046720" cy="508000"/>
          </a:xfrm>
          <a:prstGeom prst="rect">
            <a:avLst/>
          </a:prstGeom>
          <a:solidFill>
            <a:srgbClr val="1B27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420696" y="4016612"/>
            <a:ext cx="7843520" cy="431800"/>
          </a:xfrm>
          <a:prstGeom prst="rect">
            <a:avLst/>
          </a:prstGeom>
          <a:noFill/>
        </p:spPr>
        <p:txBody>
          <a:bodyPr wrap="square">
            <a:spAutoFit/>
          </a:bodyPr>
          <a:lstStyle/>
          <a:p>
            <a:pPr algn="l"/>
            <a:r>
              <a:rPr sz="1300" b="0" i="1">
                <a:solidFill>
                  <a:srgbClr val="FFB300"/>
                </a:solidFill>
                <a:latin typeface="Calibri"/>
              </a:rPr>
              <a:t>PM1 is the load-bearing foundation — the symbolic planner feeds every downstream module.</a:t>
            </a:r>
          </a:p>
        </p:txBody>
      </p:sp>
      <p:sp>
        <p:nvSpPr>
          <p:cNvPr id="27" name="TextBox 26"/>
          <p:cNvSpPr txBox="1"/>
          <p:nvPr/>
        </p:nvSpPr>
        <p:spPr>
          <a:xfrm>
            <a:off x="319096" y="4537312"/>
            <a:ext cx="8046720" cy="330200"/>
          </a:xfrm>
          <a:prstGeom prst="rect">
            <a:avLst/>
          </a:prstGeom>
          <a:noFill/>
        </p:spPr>
        <p:txBody>
          <a:bodyPr wrap="square">
            <a:spAutoFit/>
          </a:bodyPr>
          <a:lstStyle/>
          <a:p>
            <a:pPr algn="l"/>
            <a:r>
              <a:rPr sz="1500" b="1" i="0">
                <a:solidFill>
                  <a:srgbClr val="1B275E"/>
                </a:solidFill>
                <a:latin typeface="Calibri"/>
              </a:rPr>
              <a:t>Thank you. Questions welcome.</a:t>
            </a:r>
          </a:p>
        </p:txBody>
      </p:sp>
      <p:sp>
        <p:nvSpPr>
          <p:cNvPr id="28" name="TextBox 27"/>
          <p:cNvSpPr txBox="1"/>
          <p:nvPr/>
        </p:nvSpPr>
        <p:spPr>
          <a:xfrm>
            <a:off x="365760" y="5468217"/>
            <a:ext cx="8046720" cy="307777"/>
          </a:xfrm>
          <a:prstGeom prst="rect">
            <a:avLst/>
          </a:prstGeom>
          <a:solidFill>
            <a:schemeClr val="accent6"/>
          </a:solidFill>
        </p:spPr>
        <p:txBody>
          <a:bodyPr wrap="square" lIns="91440" tIns="45720" rIns="91440" bIns="45720" anchor="t">
            <a:spAutoFit/>
          </a:bodyPr>
          <a:lstStyle/>
          <a:p>
            <a:pPr algn="l"/>
            <a:r>
              <a:rPr sz="1400" b="1" i="0">
                <a:solidFill>
                  <a:srgbClr val="444455"/>
                </a:solidFill>
                <a:latin typeface="Calibri"/>
              </a:rPr>
              <a:t>AI Usage Declaration</a:t>
            </a:r>
          </a:p>
        </p:txBody>
      </p:sp>
      <p:sp>
        <p:nvSpPr>
          <p:cNvPr id="29" name="TextBox 28"/>
          <p:cNvSpPr txBox="1"/>
          <p:nvPr/>
        </p:nvSpPr>
        <p:spPr>
          <a:xfrm>
            <a:off x="365760" y="5782096"/>
            <a:ext cx="8046720" cy="738664"/>
          </a:xfrm>
          <a:prstGeom prst="rect">
            <a:avLst/>
          </a:prstGeom>
          <a:solidFill>
            <a:schemeClr val="accent6"/>
          </a:solidFill>
        </p:spPr>
        <p:txBody>
          <a:bodyPr wrap="square" lIns="91440" tIns="45720" rIns="91440" bIns="45720" anchor="t">
            <a:spAutoFit/>
          </a:bodyPr>
          <a:lstStyle/>
          <a:p>
            <a:pPr algn="l"/>
            <a:r>
              <a:rPr sz="1400" b="1" i="0" dirty="0">
                <a:solidFill>
                  <a:srgbClr val="444455"/>
                </a:solidFill>
                <a:latin typeface="Calibri"/>
              </a:rPr>
              <a:t>These presentation slides were completed with assistance from Claude (AI assistant by Anthropic), used for structuring answers, referencing course materials, and drafting responses. All content was reviewed and validated by the group.</a:t>
            </a:r>
            <a:endParaRPr lang="en-US" sz="1400" b="1" i="0" dirty="0">
              <a:solidFill>
                <a:srgbClr val="444455"/>
              </a:solidFill>
              <a:latin typeface="Calibri"/>
              <a:ea typeface="Calibri"/>
              <a:cs typeface="Calibri"/>
            </a:endParaRPr>
          </a:p>
        </p:txBody>
      </p:sp>
      <p:pic>
        <p:nvPicPr>
          <p:cNvPr id="30" name="Picture 29" descr="A diagram of a model&#10;&#10;AI-generated content may be incorrect.">
            <a:extLst>
              <a:ext uri="{FF2B5EF4-FFF2-40B4-BE49-F238E27FC236}">
                <a16:creationId xmlns:a16="http://schemas.microsoft.com/office/drawing/2014/main" id="{D3C13106-CF3D-566B-0683-F5E3D95E5A4C}"/>
              </a:ext>
            </a:extLst>
          </p:cNvPr>
          <p:cNvPicPr>
            <a:picLocks noChangeAspect="1"/>
          </p:cNvPicPr>
          <p:nvPr/>
        </p:nvPicPr>
        <p:blipFill>
          <a:blip r:embed="rId3"/>
          <a:stretch>
            <a:fillRect/>
          </a:stretch>
        </p:blipFill>
        <p:spPr>
          <a:xfrm>
            <a:off x="8526909" y="1262303"/>
            <a:ext cx="3654469" cy="5094298"/>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Custom</PresentationFormat>
  <Paragraphs>0</Paragraphs>
  <Slides>15</Slides>
  <Notes>15</Notes>
  <HiddenSlides>0</HiddenSlides>
  <MMClips>0</MMClips>
  <ScaleCrop>false</ScaleCrop>
  <HeadingPairs>
    <vt:vector size="4" baseType="variant">
      <vt:variant>
        <vt:lpstr>Theme</vt:lpstr>
      </vt:variant>
      <vt:variant>
        <vt:i4>1</vt:i4>
      </vt:variant>
      <vt:variant>
        <vt:lpstr>Slide Titles</vt:lpstr>
      </vt:variant>
      <vt:variant>
        <vt:i4>15</vt:i4>
      </vt:variant>
    </vt:vector>
  </HeadingPairs>
  <TitlesOfParts>
    <vt:vector size="16"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122</cp:revision>
  <dcterms:created xsi:type="dcterms:W3CDTF">2013-01-27T09:14:16Z</dcterms:created>
  <dcterms:modified xsi:type="dcterms:W3CDTF">2026-04-08T20:33:06Z</dcterms:modified>
  <cp:category/>
</cp:coreProperties>
</file>